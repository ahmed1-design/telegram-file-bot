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714" r:id="rId2"/>
  </p:sldMasterIdLst>
  <p:notesMasterIdLst>
    <p:notesMasterId r:id="rId44"/>
  </p:notesMasterIdLst>
  <p:sldIdLst>
    <p:sldId id="301" r:id="rId3"/>
    <p:sldId id="287" r:id="rId4"/>
    <p:sldId id="302" r:id="rId5"/>
    <p:sldId id="258" r:id="rId6"/>
    <p:sldId id="305" r:id="rId7"/>
    <p:sldId id="273" r:id="rId8"/>
    <p:sldId id="274" r:id="rId9"/>
    <p:sldId id="298" r:id="rId10"/>
    <p:sldId id="260" r:id="rId11"/>
    <p:sldId id="306" r:id="rId12"/>
    <p:sldId id="261" r:id="rId13"/>
    <p:sldId id="262" r:id="rId14"/>
    <p:sldId id="316" r:id="rId15"/>
    <p:sldId id="317" r:id="rId16"/>
    <p:sldId id="300" r:id="rId17"/>
    <p:sldId id="307" r:id="rId18"/>
    <p:sldId id="266" r:id="rId19"/>
    <p:sldId id="318" r:id="rId20"/>
    <p:sldId id="267" r:id="rId21"/>
    <p:sldId id="268" r:id="rId22"/>
    <p:sldId id="310" r:id="rId23"/>
    <p:sldId id="311" r:id="rId24"/>
    <p:sldId id="319" r:id="rId25"/>
    <p:sldId id="312" r:id="rId26"/>
    <p:sldId id="269" r:id="rId27"/>
    <p:sldId id="271" r:id="rId28"/>
    <p:sldId id="320" r:id="rId29"/>
    <p:sldId id="314" r:id="rId30"/>
    <p:sldId id="272" r:id="rId31"/>
    <p:sldId id="288" r:id="rId32"/>
    <p:sldId id="281" r:id="rId33"/>
    <p:sldId id="292" r:id="rId34"/>
    <p:sldId id="315" r:id="rId35"/>
    <p:sldId id="297" r:id="rId36"/>
    <p:sldId id="283" r:id="rId37"/>
    <p:sldId id="294" r:id="rId38"/>
    <p:sldId id="295" r:id="rId39"/>
    <p:sldId id="299" r:id="rId40"/>
    <p:sldId id="284" r:id="rId41"/>
    <p:sldId id="285" r:id="rId42"/>
    <p:sldId id="321" r:id="rId43"/>
  </p:sldIdLst>
  <p:sldSz cx="9144000" cy="6858000" type="screen4x3"/>
  <p:notesSz cx="6858000" cy="9144000"/>
  <p:defaultTextStyle>
    <a:defPPr>
      <a:defRPr lang="ar-SA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8" autoAdjust="0"/>
    <p:restoredTop sz="96416" autoAdjust="0"/>
  </p:normalViewPr>
  <p:slideViewPr>
    <p:cSldViewPr>
      <p:cViewPr varScale="1">
        <p:scale>
          <a:sx n="69" d="100"/>
          <a:sy n="69" d="100"/>
        </p:scale>
        <p:origin x="136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30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5AD772F9-4868-4CE4-8C0D-4D3F352A57CE}" type="datetimeFigureOut">
              <a:rPr lang="en-US"/>
              <a:pPr>
                <a:defRPr/>
              </a:pPr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72DAA44-76B1-42AE-93BF-0A002A3A7C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069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>
              <a:cs typeface="Arial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ED6EE28-8905-4295-92E4-BCAD7A9652A3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2DAA44-76B1-42AE-93BF-0A002A3A7CE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2DAA44-76B1-42AE-93BF-0A002A3A7CE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D0582-0EFA-4118-B3A0-64FF156BEF2C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CB390D-EA77-4807-91B1-71F7872212A3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9E505-C63F-4AEA-BA96-5E521EF93CB7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762000"/>
            <a:ext cx="40386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62000"/>
            <a:ext cx="40386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AE600-6B6D-47FE-869E-1E2444940B54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F4825-65EA-4574-A873-9CE4AE7F866F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7C74E-BC7A-483F-A678-F78C4C508CB5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124DD2-4FFC-4793-88D6-3B911478E9D8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1F241B-EE6A-4294-9D27-79CDA260A21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46EF-51AE-42CA-B0B1-5B448292E7E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7E4A9-1350-4880-BEBD-7168D233047B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400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400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5EE7C-017B-4E80-B728-A31E65C6D150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>
              <a:defRPr/>
            </a:pPr>
            <a:fld id="{BFDD0582-0EFA-4118-B3A0-64FF156BEF2C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9144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>
            <a:normAutofit/>
          </a:bodyPr>
          <a:lstStyle>
            <a:lvl1pPr algn="ctr" rtl="0">
              <a:defRPr sz="40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8534400" cy="51816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algn="l" rtl="0">
              <a:defRPr sz="3200"/>
            </a:lvl1pPr>
            <a:lvl2pPr algn="l" rtl="0">
              <a:defRPr sz="3200"/>
            </a:lvl2pPr>
            <a:lvl3pPr algn="l" rtl="0">
              <a:defRPr sz="3200"/>
            </a:lvl3pPr>
            <a:lvl4pPr algn="l" rtl="0">
              <a:defRPr sz="3200"/>
            </a:lvl4pPr>
            <a:lvl5pPr algn="l" rtl="0">
              <a:defRPr sz="32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8077200" y="6324600"/>
            <a:ext cx="609600" cy="381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>
              <a:defRPr/>
            </a:pPr>
            <a:fld id="{83CB390D-EA77-4807-91B1-71F7872212A3}" type="slidenum">
              <a:rPr lang="ar-SA" smtClean="0"/>
              <a:pPr rtl="0"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>
          <a:xfrm>
            <a:off x="3505200" y="6400801"/>
            <a:ext cx="3318880" cy="304800"/>
          </a:xfrm>
        </p:spPr>
        <p:txBody>
          <a:bodyPr rtlCol="0"/>
          <a:lstStyle>
            <a:lvl1pPr>
              <a:defRPr b="1"/>
            </a:lvl1pPr>
          </a:lstStyle>
          <a:p>
            <a:pPr algn="ctr" rtl="0">
              <a:defRPr/>
            </a:pPr>
            <a:r>
              <a:rPr lang="pt-BR" smtClean="0"/>
              <a:t>Rheology (2024)  Dr. Sara Anas</a:t>
            </a:r>
            <a:endParaRPr lang="en-US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057400"/>
            <a:ext cx="6324600" cy="281559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>
            <a:lvl1pPr algn="ctr" rtl="0">
              <a:buNone/>
              <a:defRPr sz="6000" b="1" cap="none" spc="0" baseline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05000" y="990600"/>
            <a:ext cx="6172200" cy="8382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anchor="t"/>
          <a:lstStyle>
            <a:lvl1pPr marL="0" indent="0" algn="ctr">
              <a:buNone/>
              <a:defRPr sz="1800" b="1" cap="none" spc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ar-SA" dirty="0" smtClean="0"/>
              <a:t>س</a:t>
            </a:r>
            <a:r>
              <a:rPr kumimoji="0" lang="en-US" dirty="0" smtClean="0"/>
              <a:t>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352800" y="5943600"/>
            <a:ext cx="3352800" cy="609600"/>
          </a:xfrm>
        </p:spPr>
        <p:txBody>
          <a:bodyPr/>
          <a:lstStyle>
            <a:lvl1pPr>
              <a:defRPr sz="2400" b="1" i="1">
                <a:solidFill>
                  <a:schemeClr val="tx1"/>
                </a:solidFill>
              </a:defRPr>
            </a:lvl1pPr>
          </a:lstStyle>
          <a:p>
            <a:pPr algn="ctr" rtl="0"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7315200" y="50292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 flipV="1">
            <a:off x="7772400" y="6477000"/>
            <a:ext cx="304800" cy="22860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8305800" y="63246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8610600" y="6019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534400" cy="7620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>
            <a:normAutofit/>
          </a:bodyPr>
          <a:lstStyle>
            <a:lvl1pPr algn="ctr" rtl="0">
              <a:defRPr sz="36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76600" y="6324600"/>
            <a:ext cx="3200400" cy="381000"/>
          </a:xfrm>
        </p:spPr>
        <p:txBody>
          <a:bodyPr/>
          <a:lstStyle>
            <a:lvl1pPr algn="ctr" rtl="0">
              <a:defRPr b="1" i="1"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36792"/>
            <a:ext cx="609600" cy="5212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>
              <a:defRPr/>
            </a:pPr>
            <a:fld id="{5B6AE600-6B6D-47FE-869E-1E2444940B54}" type="slidenum">
              <a:rPr lang="ar-SA" smtClean="0"/>
              <a:pPr rtl="0"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28600" y="1066800"/>
            <a:ext cx="4267200" cy="5181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/>
          <a:lstStyle>
            <a:lvl1pPr algn="l" rtl="0">
              <a:defRPr sz="3200">
                <a:effectLst/>
              </a:defRPr>
            </a:lvl1pPr>
            <a:lvl2pPr algn="l" rtl="0">
              <a:defRPr sz="3200">
                <a:effectLst/>
              </a:defRPr>
            </a:lvl2pPr>
            <a:lvl3pPr algn="l" rtl="0">
              <a:defRPr sz="3200">
                <a:effectLst/>
              </a:defRPr>
            </a:lvl3pPr>
            <a:lvl4pPr algn="l" rtl="0">
              <a:defRPr sz="3200">
                <a:effectLst/>
              </a:defRPr>
            </a:lvl4pPr>
            <a:lvl5pPr algn="l" rtl="0">
              <a:defRPr sz="32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48200" y="1066800"/>
            <a:ext cx="4114800" cy="5105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/>
          <a:lstStyle>
            <a:lvl1pPr algn="l" rtl="0">
              <a:defRPr sz="3200"/>
            </a:lvl1pPr>
            <a:lvl2pPr algn="l" rtl="0">
              <a:defRPr sz="3200"/>
            </a:lvl2pPr>
            <a:lvl3pPr algn="l" rtl="0">
              <a:defRPr sz="3200"/>
            </a:lvl3pPr>
            <a:lvl4pPr algn="l" rtl="0">
              <a:defRPr sz="3200"/>
            </a:lvl4pPr>
            <a:lvl5pPr algn="l" rtl="0">
              <a:defRPr sz="32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9144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 anchor="b">
            <a:normAutofit/>
          </a:bodyPr>
          <a:lstStyle>
            <a:lvl1pPr algn="ctr" rtl="0">
              <a:defRPr sz="36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971800" y="6324600"/>
            <a:ext cx="3200400" cy="365760"/>
          </a:xfrm>
        </p:spPr>
        <p:txBody>
          <a:bodyPr/>
          <a:lstStyle>
            <a:lvl1pPr algn="ctr" rtl="0">
              <a:defRPr b="1" i="1"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77200" y="6317742"/>
            <a:ext cx="609600" cy="54025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FEF4825-65EA-4574-A873-9CE4AE7F866F}" type="slidenum">
              <a:rPr lang="ar-SA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304800" y="1828800"/>
            <a:ext cx="4038600" cy="4419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419600" y="1828800"/>
            <a:ext cx="4114799" cy="4343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228600" y="1143000"/>
            <a:ext cx="4267200" cy="609600"/>
          </a:xfrm>
          <a:prstGeom prst="roundRect">
            <a:avLst>
              <a:gd name="adj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none"/>
        </p:style>
        <p:txBody>
          <a:bodyPr rtlCol="0" anchor="ctr">
            <a:noAutofit/>
          </a:bodyPr>
          <a:lstStyle>
            <a:lvl1pPr marL="0" indent="0" algn="ctr" rtl="0">
              <a:buFontTx/>
              <a:buNone/>
              <a:defRPr sz="24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648200" y="1143000"/>
            <a:ext cx="3962400" cy="658368"/>
          </a:xfrm>
          <a:prstGeom prst="roundRect">
            <a:avLst>
              <a:gd name="adj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none"/>
        </p:style>
        <p:txBody>
          <a:bodyPr rtlCol="0" anchor="ctr">
            <a:noAutofit/>
          </a:bodyPr>
          <a:lstStyle>
            <a:lvl1pPr marL="0" indent="0" algn="ctr" rtl="0">
              <a:buFontTx/>
              <a:buNone/>
              <a:defRPr sz="28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B1D7C74E-BC7A-483F-A678-F78C4C508CB5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24DD2-4FFC-4793-88D6-3B911478E9D8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181F241B-EE6A-4294-9D27-79CDA260A21E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66A246EF-51AE-42CA-B0B1-5B448292E7EA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37E4A9-1350-4880-BEBD-7168D233047B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5EE7C-017B-4E80-B728-A31E65C6D150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alphaModFix amt="5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2000"/>
            <a:ext cx="8229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smtClean="0"/>
            </a:lvl1pPr>
          </a:lstStyle>
          <a:p>
            <a:pPr>
              <a:defRPr/>
            </a:pPr>
            <a:fld id="{D61005A8-A883-48A7-8F3E-707A516E56B6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1" grpId="0" build="p">
        <p:tmplLst>
          <p:tmpl lvl="1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49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49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49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49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49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4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61005A8-A883-48A7-8F3E-707A516E56B6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3" grpId="0" build="p"/>
    </p:bldLst>
  </p:timing>
  <p:hf sldNum="0" hdr="0" dt="0"/>
  <p:txStyles>
    <p:titleStyle>
      <a:lvl1pPr algn="l" rtl="1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r" rtl="1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r" rtl="1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r" rtl="1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r" rtl="1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r" rtl="1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r" rtl="1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r" rtl="1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r" rtl="1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://en.wikipedia.org/wiki/File:Ubbelohde.jpg" TargetMode="Externa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90600" y="2057400"/>
            <a:ext cx="7239000" cy="19812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cs typeface="Times New Roman" pitchFamily="18" charset="0"/>
              </a:rPr>
              <a:t>RHEOLOGY</a:t>
            </a:r>
            <a:br>
              <a:rPr lang="en-US" sz="7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cs typeface="Times New Roman" pitchFamily="18" charset="0"/>
              </a:rPr>
            </a:br>
            <a:r>
              <a:rPr lang="pt-BR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</a:rPr>
              <a:t>(2024)</a:t>
            </a:r>
            <a:endParaRPr lang="ar-SA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752600" y="533400"/>
            <a:ext cx="6172200" cy="8382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ar-SA" sz="44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بسم الله الرحمن الرحيم</a:t>
            </a:r>
            <a:endParaRPr lang="en-US" sz="4400" b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648200"/>
            <a:ext cx="3352800" cy="17526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 rtl="0">
              <a:defRPr/>
            </a:pPr>
            <a:r>
              <a:rPr lang="pt-BR" dirty="0" smtClean="0"/>
              <a:t>Dr. Sara Anas</a:t>
            </a:r>
            <a:endParaRPr lang="en-US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>
                <a:effectLst/>
              </a:rPr>
              <a:t>INTRODUCTION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19200"/>
            <a:ext cx="8534400" cy="518160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100" b="1" dirty="0" smtClean="0">
                <a:solidFill>
                  <a:schemeClr val="tx2"/>
                </a:solidFill>
              </a:rPr>
              <a:t>Rheology:</a:t>
            </a:r>
            <a:r>
              <a:rPr lang="en-US" sz="3100" dirty="0" smtClean="0">
                <a:solidFill>
                  <a:schemeClr val="tx2"/>
                </a:solidFill>
              </a:rPr>
              <a:t> </a:t>
            </a:r>
            <a:r>
              <a:rPr lang="en-US" sz="3100" dirty="0" smtClean="0"/>
              <a:t>is the  science that study the flow properties of fluids and semi solids,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100" dirty="0" smtClean="0"/>
              <a:t>Or </a:t>
            </a:r>
            <a:r>
              <a:rPr lang="en-US" sz="3100" dirty="0"/>
              <a:t>is the  science that study the </a:t>
            </a:r>
            <a:r>
              <a:rPr lang="en-US" sz="3100" dirty="0" smtClean="0"/>
              <a:t>viscosity of </a:t>
            </a:r>
            <a:r>
              <a:rPr lang="en-US" sz="3100" dirty="0"/>
              <a:t>fluids and semi </a:t>
            </a:r>
            <a:r>
              <a:rPr lang="en-US" sz="3100" dirty="0" smtClean="0"/>
              <a:t>solids.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100" dirty="0" smtClean="0"/>
              <a:t> </a:t>
            </a:r>
            <a:r>
              <a:rPr lang="en-US" sz="2800" b="1" dirty="0" smtClean="0">
                <a:solidFill>
                  <a:schemeClr val="tx2"/>
                </a:solidFill>
              </a:rPr>
              <a:t>Viscosity: </a:t>
            </a:r>
            <a:r>
              <a:rPr lang="en-US" sz="2800" dirty="0" smtClean="0"/>
              <a:t>is </a:t>
            </a:r>
            <a:r>
              <a:rPr lang="en-US" sz="2800" dirty="0"/>
              <a:t>the resistance of a fluid to flow or movement.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The higher the viscosity, the greater </a:t>
            </a:r>
            <a:r>
              <a:rPr lang="en-US" sz="2800" dirty="0" smtClean="0"/>
              <a:t>the resistance</a:t>
            </a:r>
            <a:r>
              <a:rPr lang="en-US" sz="2800" dirty="0"/>
              <a:t>.</a:t>
            </a:r>
            <a:r>
              <a:rPr lang="en-US" sz="2800" b="1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100" dirty="0" smtClean="0"/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3100" b="1" dirty="0" smtClean="0">
                <a:solidFill>
                  <a:schemeClr val="tx2"/>
                </a:solidFill>
              </a:rPr>
              <a:t>Or:</a:t>
            </a:r>
            <a:r>
              <a:rPr lang="en-US" sz="3100" dirty="0" smtClean="0">
                <a:solidFill>
                  <a:schemeClr val="tx2"/>
                </a:solidFill>
              </a:rPr>
              <a:t> </a:t>
            </a:r>
            <a:r>
              <a:rPr lang="en-US" sz="3100" dirty="0" smtClean="0"/>
              <a:t>it is the  science of deformation and flow of matter under the</a:t>
            </a:r>
            <a:r>
              <a:rPr lang="ar-EG" sz="3100" dirty="0" smtClean="0"/>
              <a:t> </a:t>
            </a:r>
            <a:r>
              <a:rPr lang="en-US" sz="3100" dirty="0" smtClean="0"/>
              <a:t>influence of stress.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52400"/>
            <a:ext cx="6096000" cy="6248400"/>
          </a:xfrm>
        </p:spPr>
        <p:txBody>
          <a:bodyPr rtlCol="0">
            <a:normAutofit fontScale="85000" lnSpcReduction="2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solidFill>
                  <a:schemeClr val="tx2"/>
                </a:solidFill>
              </a:rPr>
              <a:t>Deformation: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describes the change of matter in terms of shape and/or volume.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If the changes due to deformation are at least partly nonreversible, then matter flows.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The deformation that results from the application of a stress may be of two types</a:t>
            </a:r>
            <a:r>
              <a:rPr lang="ar-EG" dirty="0"/>
              <a:t>:</a:t>
            </a:r>
            <a:r>
              <a:rPr lang="en-US" dirty="0"/>
              <a:t> </a:t>
            </a:r>
            <a:endParaRPr lang="en-US" b="1" dirty="0" smtClean="0">
              <a:solidFill>
                <a:schemeClr val="tx2"/>
              </a:solidFill>
            </a:endParaRPr>
          </a:p>
          <a:p>
            <a:pPr marL="660400" indent="-660400" fontAlgn="auto">
              <a:spcAft>
                <a:spcPts val="0"/>
              </a:spcAft>
              <a:buFontTx/>
              <a:buAutoNum type="romanLcPeriod"/>
              <a:defRPr/>
            </a:pPr>
            <a:r>
              <a:rPr lang="en-US" b="1" dirty="0" smtClean="0">
                <a:solidFill>
                  <a:schemeClr val="tx2"/>
                </a:solidFill>
              </a:rPr>
              <a:t>Elastic Deformation:</a:t>
            </a:r>
          </a:p>
          <a:p>
            <a:pPr marL="660400" indent="-660400" fontAlgn="auto">
              <a:spcAft>
                <a:spcPts val="0"/>
              </a:spcAft>
              <a:buNone/>
              <a:defRPr/>
            </a:pPr>
            <a:r>
              <a:rPr lang="en-US" b="1" dirty="0" smtClean="0">
                <a:solidFill>
                  <a:srgbClr val="CC0000"/>
                </a:solidFill>
              </a:rPr>
              <a:t>        </a:t>
            </a:r>
            <a:r>
              <a:rPr lang="en-US" dirty="0" smtClean="0"/>
              <a:t>It is a spontaneous and reversible deformation, exhibited by elastic bodies</a:t>
            </a:r>
          </a:p>
          <a:p>
            <a:pPr marL="660400" indent="-660400" fontAlgn="auto">
              <a:spcAft>
                <a:spcPts val="0"/>
              </a:spcAft>
              <a:buFontTx/>
              <a:buAutoNum type="romanLcPeriod"/>
              <a:defRPr/>
            </a:pPr>
            <a:r>
              <a:rPr lang="en-US" sz="3800" b="1" dirty="0" smtClean="0">
                <a:solidFill>
                  <a:schemeClr val="tx2"/>
                </a:solidFill>
              </a:rPr>
              <a:t>Plastic Deformation:</a:t>
            </a:r>
            <a:r>
              <a:rPr lang="en-US" sz="3800" dirty="0" smtClean="0"/>
              <a:t> </a:t>
            </a:r>
          </a:p>
          <a:p>
            <a:pPr marL="660400" indent="-660400" fontAlgn="auto">
              <a:spcAft>
                <a:spcPts val="0"/>
              </a:spcAft>
              <a:buClr>
                <a:srgbClr val="99FF33"/>
              </a:buClr>
              <a:buFont typeface="Wingdings" pitchFamily="2" charset="2"/>
              <a:buNone/>
              <a:defRPr/>
            </a:pPr>
            <a:r>
              <a:rPr lang="en-US" dirty="0" smtClean="0"/>
              <a:t>       It is a permanent and irreversible deformation, exhibited by viscous bodies</a:t>
            </a:r>
            <a:r>
              <a:rPr lang="ar-EG" dirty="0" smtClean="0"/>
              <a:t>.</a:t>
            </a:r>
          </a:p>
          <a:p>
            <a:pPr marL="660400" indent="-660400" fontAlgn="auto">
              <a:spcAft>
                <a:spcPts val="0"/>
              </a:spcAft>
              <a:buClr>
                <a:srgbClr val="99FF33"/>
              </a:buClr>
              <a:buFont typeface="Wingdings" pitchFamily="2" charset="2"/>
              <a:buNone/>
              <a:defRPr/>
            </a:pPr>
            <a:endParaRPr lang="en-US" dirty="0" smtClean="0"/>
          </a:p>
          <a:p>
            <a:pPr marL="660400" indent="-660400" fontAlgn="auto">
              <a:spcAft>
                <a:spcPts val="0"/>
              </a:spcAft>
              <a:defRPr/>
            </a:pPr>
            <a:endParaRPr lang="en-US" dirty="0" smtClean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0"/>
            <a:ext cx="2619375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/>
              <a:t>Importance of Rheology in pharmacy: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990600"/>
            <a:ext cx="8686800" cy="5486400"/>
          </a:xfrm>
        </p:spPr>
        <p:txBody>
          <a:bodyPr rtlCol="0">
            <a:normAutofit fontScale="92500" lnSpcReduction="20000"/>
          </a:bodyPr>
          <a:lstStyle/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Characterization &amp; classification of fluids &amp; semi solids,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Adjustment of the dissolution rate by the viscosity &amp; hence control bioavailability,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involved in the mixing and flow of materials,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physical stability of pharmaceutical products (suspension and emulsion), 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The packaging of products into the suitable containers ,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Removal of products from containers prior to use and extrusion from a tube (extrudability)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Passage of product through a syringe needle (syrengability),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patient acceptability,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82000" cy="1371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effectLst/>
              </a:rPr>
              <a:t>Classification of materials according to the types of flow and deformation: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828800"/>
            <a:ext cx="8229600" cy="4297363"/>
          </a:xfrm>
        </p:spPr>
        <p:txBody>
          <a:bodyPr rtlCol="0"/>
          <a:lstStyle/>
          <a:p>
            <a:pPr marL="609600" indent="-609600" fontAlgn="auto">
              <a:spcAft>
                <a:spcPts val="0"/>
              </a:spcAft>
              <a:defRPr/>
            </a:pPr>
            <a:r>
              <a:rPr lang="en-US" dirty="0" smtClean="0"/>
              <a:t>Materials can be classified according to the types of flow and deformation based on Newton’s law into two categories:</a:t>
            </a:r>
          </a:p>
          <a:p>
            <a:pPr marL="609600" indent="-609600" fontAlgn="auto">
              <a:spcAft>
                <a:spcPts val="0"/>
              </a:spcAft>
              <a:buFontTx/>
              <a:buAutoNum type="arabicPeriod"/>
              <a:defRPr/>
            </a:pPr>
            <a:r>
              <a:rPr lang="en-US" dirty="0" smtClean="0"/>
              <a:t> Newtonian systems</a:t>
            </a:r>
          </a:p>
          <a:p>
            <a:pPr marL="609600" indent="-609600" fontAlgn="auto">
              <a:spcAft>
                <a:spcPts val="0"/>
              </a:spcAft>
              <a:buFontTx/>
              <a:buAutoNum type="arabicPeriod"/>
              <a:defRPr/>
            </a:pPr>
            <a:r>
              <a:rPr lang="en-US" dirty="0" smtClean="0"/>
              <a:t> non-Newtonian systems. </a:t>
            </a:r>
          </a:p>
          <a:p>
            <a:pPr marL="609600" indent="-609600" fontAlgn="auto">
              <a:spcAft>
                <a:spcPts val="0"/>
              </a:spcAft>
              <a:defRPr/>
            </a:pP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effectLst/>
              </a:rPr>
              <a:t>Newton’s law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>
          <a:xfrm>
            <a:off x="3352800" y="1066800"/>
            <a:ext cx="5486400" cy="5105400"/>
          </a:xfrm>
        </p:spPr>
        <p:txBody>
          <a:bodyPr>
            <a:normAutofit fontScale="92500" lnSpcReduction="1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dirty="0" smtClean="0"/>
              <a:t>Let us consider a block of liquid consisting of parallel plates of molecules as shown in this figure. 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dirty="0" smtClean="0"/>
              <a:t>The bottom layer is considered to be fixed in place.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dirty="0" smtClean="0"/>
              <a:t> If the top plane of liquid is moved at constant velocity,  each lower layer will move with a velocity directly  proportional to its distance from the stationary bottom layer.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2971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352800" y="9525"/>
            <a:ext cx="5638800" cy="6096000"/>
          </a:xfrm>
        </p:spPr>
        <p:txBody>
          <a:bodyPr>
            <a:normAutofit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2"/>
                </a:solidFill>
              </a:rPr>
              <a:t>Rate of Shear or velocity gradient D</a:t>
            </a:r>
            <a:r>
              <a:rPr lang="en-US" sz="2800" dirty="0">
                <a:solidFill>
                  <a:schemeClr val="tx2"/>
                </a:solidFill>
              </a:rPr>
              <a:t>: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  <a:defRPr/>
            </a:pPr>
            <a:r>
              <a:rPr lang="en-US" sz="2800" dirty="0" smtClean="0"/>
              <a:t>  It </a:t>
            </a:r>
            <a:r>
              <a:rPr lang="en-US" sz="2800" dirty="0"/>
              <a:t>is the velocity difference (d</a:t>
            </a:r>
            <a:r>
              <a:rPr lang="en-US" sz="2800" baseline="-25000" dirty="0"/>
              <a:t>v</a:t>
            </a:r>
            <a:r>
              <a:rPr lang="en-US" sz="2800" dirty="0"/>
              <a:t>) between two planes of liquid separated by an infinite distance,</a:t>
            </a:r>
            <a:r>
              <a:rPr lang="ar-EG" sz="2800" dirty="0"/>
              <a:t> </a:t>
            </a:r>
            <a:r>
              <a:rPr lang="en-US" sz="2800" dirty="0"/>
              <a:t>dr.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="1" u="sng" dirty="0">
              <a:solidFill>
                <a:srgbClr val="000000"/>
              </a:solidFill>
            </a:endParaRP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="1" u="sng" dirty="0">
              <a:solidFill>
                <a:srgbClr val="000000"/>
              </a:solidFill>
            </a:endParaRP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="1" u="sng" dirty="0">
              <a:solidFill>
                <a:srgbClr val="000000"/>
              </a:solidFill>
            </a:endParaRP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  <a:defRPr/>
            </a:pPr>
            <a:endParaRPr lang="en-US" sz="2800" b="1" u="sng" dirty="0" smtClean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The</a:t>
            </a:r>
            <a:r>
              <a:rPr lang="ar-EG" sz="2800" b="1" dirty="0" smtClean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chemeClr val="tx2"/>
                </a:solidFill>
              </a:rPr>
              <a:t>Shearing Stress t: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None/>
              <a:defRPr/>
            </a:pPr>
            <a:r>
              <a:rPr lang="en-US" sz="2800" dirty="0" smtClean="0"/>
              <a:t> It </a:t>
            </a:r>
            <a:r>
              <a:rPr lang="en-US" sz="2800" dirty="0"/>
              <a:t>is</a:t>
            </a:r>
            <a:r>
              <a:rPr lang="ar-EG" sz="2800" dirty="0"/>
              <a:t> </a:t>
            </a:r>
            <a:r>
              <a:rPr lang="en-US" sz="2800" dirty="0"/>
              <a:t>the force per unit area required to cause flow,</a:t>
            </a:r>
          </a:p>
          <a:p>
            <a:endParaRPr lang="en-US" sz="2800" dirty="0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81399" y="2057400"/>
            <a:ext cx="4520453" cy="8068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10001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38600" y="3200400"/>
            <a:ext cx="3657600" cy="533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57700" y="5181600"/>
            <a:ext cx="3771900" cy="838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3276600" cy="6400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/>
              <a:t>Newton’s low states that: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The rate of flow (D) is directly proportional to the applied sheer (t):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8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400" b="1" dirty="0"/>
              <a:t>η</a:t>
            </a:r>
            <a:r>
              <a:rPr lang="en-US" sz="2800" dirty="0"/>
              <a:t>: is a coefficient of dynamic viscosity,</a:t>
            </a:r>
          </a:p>
          <a:p>
            <a:pPr algn="ctr" rtl="1"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dirty="0"/>
              <a:t>η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= t/D </a:t>
            </a:r>
            <a:endParaRPr lang="en-US" sz="2800" b="1" dirty="0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dirty="0"/>
              <a:t>= </a:t>
            </a:r>
            <a:r>
              <a:rPr lang="en-US" sz="2800" dirty="0"/>
              <a:t>Nm</a:t>
            </a:r>
            <a:r>
              <a:rPr lang="en-US" sz="1800" dirty="0"/>
              <a:t>-2 </a:t>
            </a:r>
            <a:r>
              <a:rPr lang="en-US" sz="2800" dirty="0"/>
              <a:t>/ s</a:t>
            </a:r>
            <a:r>
              <a:rPr lang="en-US" sz="1800" dirty="0"/>
              <a:t>-1 </a:t>
            </a:r>
            <a:r>
              <a:rPr lang="en-US" sz="2800" dirty="0"/>
              <a:t>= Nm</a:t>
            </a:r>
            <a:r>
              <a:rPr lang="en-US" sz="1800" dirty="0"/>
              <a:t>-2</a:t>
            </a:r>
            <a:r>
              <a:rPr lang="en-US" sz="2800" dirty="0"/>
              <a:t>.s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/>
              <a:t>Nm</a:t>
            </a:r>
            <a:r>
              <a:rPr lang="en-US" sz="1800" dirty="0"/>
              <a:t>-2</a:t>
            </a:r>
            <a:r>
              <a:rPr lang="en-US" sz="2800" dirty="0"/>
              <a:t>.s = Pascal (Pa)     “Si units”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/>
              <a:t>=</a:t>
            </a:r>
            <a:r>
              <a:rPr lang="en-US" sz="2800" dirty="0" err="1"/>
              <a:t>dyn</a:t>
            </a:r>
            <a:r>
              <a:rPr lang="en-US" sz="2800" dirty="0"/>
              <a:t> cm</a:t>
            </a:r>
            <a:r>
              <a:rPr lang="en-US" sz="1800" dirty="0"/>
              <a:t>-2</a:t>
            </a:r>
            <a:r>
              <a:rPr lang="en-US" sz="2800" dirty="0"/>
              <a:t>.s = </a:t>
            </a:r>
            <a:r>
              <a:rPr lang="en-US" sz="2800" dirty="0" err="1"/>
              <a:t>Poice</a:t>
            </a:r>
            <a:r>
              <a:rPr lang="en-US" sz="2800" dirty="0"/>
              <a:t> (P)     “</a:t>
            </a:r>
            <a:r>
              <a:rPr lang="en-US" sz="2800" dirty="0" err="1"/>
              <a:t>c.g.s</a:t>
            </a:r>
            <a:r>
              <a:rPr lang="en-US" sz="2800" dirty="0"/>
              <a:t>. units</a:t>
            </a:r>
            <a:r>
              <a:rPr lang="en-US" sz="2800" dirty="0" smtClean="0"/>
              <a:t>”</a:t>
            </a:r>
            <a:endParaRPr lang="en-US" sz="280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67000" y="1905000"/>
            <a:ext cx="3505200" cy="6053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0" y="7334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4600" y="2667000"/>
            <a:ext cx="3505200" cy="60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0" y="7334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/>
              <a:t>1- Newtonian (simple) flow: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2"/>
          </p:nvPr>
        </p:nvSpPr>
        <p:spPr>
          <a:xfrm>
            <a:off x="3124200" y="1066800"/>
            <a:ext cx="5867400" cy="5105400"/>
          </a:xfrm>
        </p:spPr>
        <p:txBody>
          <a:bodyPr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represents an ideal situation in which the flow of a fluid obeys Newton's basic equation,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i.e. The higher the viscosity of a liquid, the greater the force per unit area</a:t>
            </a:r>
            <a:r>
              <a:rPr lang="ar-EG" dirty="0"/>
              <a:t> </a:t>
            </a:r>
            <a:r>
              <a:rPr lang="en-US" dirty="0"/>
              <a:t>(shearing stress) required to produce a certain rate of shear.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E.g. water, simple organic liquids, true solutions and dilute colloidal, suspensions and emulsions </a:t>
            </a:r>
          </a:p>
          <a:p>
            <a:endParaRPr lang="en-US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0" y="9334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2819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8534400" cy="6096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These systems have constant viscosity where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 smtClean="0"/>
              <a:t>		</a:t>
            </a:r>
            <a:r>
              <a:rPr lang="en-US" dirty="0" smtClean="0"/>
              <a:t>	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b="1" dirty="0" smtClean="0">
              <a:solidFill>
                <a:srgbClr val="CC0000"/>
              </a:solidFill>
            </a:endParaRP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b="1" dirty="0" smtClean="0">
              <a:solidFill>
                <a:srgbClr val="CC0000"/>
              </a:solidFill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"/>
              <a:defRPr/>
            </a:pPr>
            <a:r>
              <a:rPr lang="en-US" dirty="0" smtClean="0"/>
              <a:t>When (D) is plotted against (t) a rheogram of a straight line  passing through the origin is obtained:</a:t>
            </a:r>
            <a:endParaRPr lang="ar-S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 rtl="0">
              <a:defRPr/>
            </a:pPr>
            <a:r>
              <a:rPr lang="pt-BR" smtClean="0"/>
              <a:t>Rheology (2024)  Dr. Sara Anas</a:t>
            </a:r>
            <a:endParaRPr lang="en-US" i="1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19400" y="1600200"/>
            <a:ext cx="3276600" cy="1143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1638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0" y="228600"/>
            <a:ext cx="3657600" cy="6019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b="1" dirty="0" smtClean="0">
                <a:solidFill>
                  <a:schemeClr val="bg1"/>
                </a:solidFill>
                <a:cs typeface="Arial" pitchFamily="34" charset="0"/>
              </a:rPr>
              <a:t>Rheogram of a Newtonian liquid</a:t>
            </a:r>
          </a:p>
          <a:p>
            <a:pPr algn="ctr">
              <a:buFont typeface="Wingdings" pitchFamily="2" charset="2"/>
              <a:buNone/>
            </a:pPr>
            <a:endParaRPr lang="en-US" b="1" dirty="0" smtClean="0">
              <a:solidFill>
                <a:srgbClr val="CC0000"/>
              </a:solidFill>
              <a:cs typeface="Arial" pitchFamily="34" charset="0"/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sz="quarter" idx="2"/>
          </p:nvPr>
        </p:nvSpPr>
        <p:spPr>
          <a:xfrm>
            <a:off x="3733800" y="228600"/>
            <a:ext cx="5257800" cy="6248400"/>
          </a:xfrm>
        </p:spPr>
        <p:txBody>
          <a:bodyPr rtlCol="0">
            <a:noAutofit/>
          </a:bodyPr>
          <a:lstStyle/>
          <a:p>
            <a:pPr marL="533400" indent="-533400">
              <a:buClr>
                <a:schemeClr val="tx1"/>
              </a:buClr>
              <a:defRPr/>
            </a:pPr>
            <a:r>
              <a:rPr lang="en-US" sz="2800" dirty="0" smtClean="0"/>
              <a:t>The passage through the origin indicates that even a mild force can induce flow in these systems.</a:t>
            </a:r>
          </a:p>
          <a:p>
            <a:pPr marL="533400" indent="-533400" fontAlgn="auto">
              <a:spcAft>
                <a:spcPts val="0"/>
              </a:spcAft>
              <a:defRPr/>
            </a:pPr>
            <a:r>
              <a:rPr lang="en-US" sz="2800" dirty="0" smtClean="0"/>
              <a:t>The linear nature of the curve shows that the viscosity (η) of a newtonian liquid is a constant unaffected by the value of the rate of shear</a:t>
            </a:r>
          </a:p>
          <a:p>
            <a:pPr marL="533400" indent="-533400" fontAlgn="auto">
              <a:spcAft>
                <a:spcPts val="0"/>
              </a:spcAft>
              <a:defRPr/>
            </a:pPr>
            <a:r>
              <a:rPr lang="en-US" sz="2800" dirty="0" smtClean="0"/>
              <a:t>the slope is the reciprocal of viscosity (fluidity Φ)      </a:t>
            </a:r>
          </a:p>
          <a:p>
            <a:pPr marL="533400" indent="-533400" fontAlgn="auto">
              <a:spcAft>
                <a:spcPts val="0"/>
              </a:spcAft>
              <a:buClr>
                <a:schemeClr val="tx1"/>
              </a:buClr>
              <a:buNone/>
              <a:defRPr/>
            </a:pPr>
            <a:endParaRPr lang="en-US" sz="2800" dirty="0" smtClean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828800"/>
            <a:ext cx="3200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38800" y="5791200"/>
            <a:ext cx="2286000" cy="533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990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/>
              <a:t>2- Non-Newtonian (complex) flow: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 rtlCol="0">
            <a:normAutofit/>
          </a:bodyPr>
          <a:lstStyle/>
          <a:p>
            <a:pPr marL="609600" indent="-609600" fontAlgn="auto">
              <a:spcAft>
                <a:spcPts val="0"/>
              </a:spcAft>
              <a:defRPr/>
            </a:pPr>
            <a:r>
              <a:rPr lang="en-US" dirty="0" smtClean="0"/>
              <a:t>Are flow characteristics that show deviation from the Newton law, </a:t>
            </a:r>
          </a:p>
          <a:p>
            <a:pPr marL="609600" indent="-609600" fontAlgn="auto">
              <a:spcAft>
                <a:spcPts val="0"/>
              </a:spcAft>
              <a:defRPr/>
            </a:pPr>
            <a:r>
              <a:rPr lang="en-US" dirty="0" smtClean="0"/>
              <a:t>Non-Newtonian materials exhibit several distinct types of non ideal behavior which are :</a:t>
            </a:r>
          </a:p>
          <a:p>
            <a:pPr marL="609600" indent="-609600" fontAlgn="auto">
              <a:spcAft>
                <a:spcPts val="0"/>
              </a:spcAft>
              <a:buFontTx/>
              <a:buAutoNum type="arabicPeriod"/>
              <a:defRPr/>
            </a:pPr>
            <a:r>
              <a:rPr lang="en-US" dirty="0" smtClean="0"/>
              <a:t> plastic flow, </a:t>
            </a:r>
          </a:p>
          <a:p>
            <a:pPr marL="609600" indent="-609600" fontAlgn="auto">
              <a:spcAft>
                <a:spcPts val="0"/>
              </a:spcAft>
              <a:buFontTx/>
              <a:buAutoNum type="arabicPeriod"/>
              <a:defRPr/>
            </a:pPr>
            <a:r>
              <a:rPr lang="en-US" dirty="0" smtClean="0"/>
              <a:t>pseudo plastic flow, and</a:t>
            </a:r>
          </a:p>
          <a:p>
            <a:pPr marL="609600" indent="-609600" fontAlgn="auto">
              <a:spcAft>
                <a:spcPts val="0"/>
              </a:spcAft>
              <a:buFontTx/>
              <a:buAutoNum type="arabicPeriod"/>
              <a:defRPr/>
            </a:pPr>
            <a:r>
              <a:rPr lang="en-US" dirty="0" smtClean="0"/>
              <a:t>dilatant flow 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Times New Roman" pitchFamily="18" charset="0"/>
              </a:rPr>
              <a:t>1. </a:t>
            </a:r>
            <a:r>
              <a:rPr lang="en-US" dirty="0">
                <a:cs typeface="Times New Roman" pitchFamily="18" charset="0"/>
              </a:rPr>
              <a:t>Plastic Flow (Bingham bodies):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>
              <a:defRPr/>
            </a:pPr>
            <a:r>
              <a:rPr lang="pt-BR" smtClean="0"/>
              <a:t>Rheology (2024)  Dr. Sara Anas</a:t>
            </a:r>
            <a:endParaRPr lang="en-US" i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>
          <a:xfrm>
            <a:off x="2895600" y="1066800"/>
            <a:ext cx="6172200" cy="5181600"/>
          </a:xfrm>
        </p:spPr>
        <p:txBody>
          <a:bodyPr>
            <a:noAutofit/>
          </a:bodyPr>
          <a:lstStyle/>
          <a:p>
            <a:r>
              <a:rPr lang="en-US" dirty="0" smtClean="0"/>
              <a:t>Bingham body are systems having strong van der Waals forces between adjacent particles,</a:t>
            </a:r>
          </a:p>
          <a:p>
            <a:r>
              <a:rPr lang="en-US" dirty="0" smtClean="0"/>
              <a:t> so that they don’t </a:t>
            </a:r>
            <a:r>
              <a:rPr lang="en-US" dirty="0"/>
              <a:t>flow </a:t>
            </a:r>
            <a:r>
              <a:rPr lang="en-US" dirty="0" smtClean="0"/>
              <a:t>until </a:t>
            </a:r>
            <a:r>
              <a:rPr lang="en-US" dirty="0" smtClean="0">
                <a:cs typeface="Arial" pitchFamily="34" charset="0"/>
              </a:rPr>
              <a:t>subjected </a:t>
            </a:r>
            <a:r>
              <a:rPr lang="en-US" dirty="0">
                <a:cs typeface="Arial" pitchFamily="34" charset="0"/>
              </a:rPr>
              <a:t>to </a:t>
            </a:r>
            <a:r>
              <a:rPr lang="en-US" dirty="0" smtClean="0"/>
              <a:t>shearing stress sufficient to break down this force.</a:t>
            </a:r>
          </a:p>
          <a:p>
            <a:r>
              <a:rPr lang="en-US" dirty="0" smtClean="0"/>
              <a:t>This force is </a:t>
            </a:r>
            <a:r>
              <a:rPr lang="en-US" dirty="0">
                <a:cs typeface="Arial" pitchFamily="34" charset="0"/>
              </a:rPr>
              <a:t>Bingham yield </a:t>
            </a:r>
            <a:r>
              <a:rPr lang="en-US" dirty="0" smtClean="0">
                <a:cs typeface="Arial" pitchFamily="34" charset="0"/>
              </a:rPr>
              <a:t>value,</a:t>
            </a: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82" y="914400"/>
            <a:ext cx="2823882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454715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733800" y="152400"/>
            <a:ext cx="5334000" cy="609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cs typeface="Arial" pitchFamily="34" charset="0"/>
              </a:rPr>
              <a:t>i.e</a:t>
            </a:r>
            <a:r>
              <a:rPr lang="en-US" dirty="0">
                <a:cs typeface="Arial" pitchFamily="34" charset="0"/>
              </a:rPr>
              <a:t> plastic system can't flow until subjected to sear stress equals to or greater than yield value.</a:t>
            </a:r>
            <a:r>
              <a:rPr lang="en-US" dirty="0"/>
              <a:t> </a:t>
            </a:r>
          </a:p>
          <a:p>
            <a:r>
              <a:rPr lang="en-US" dirty="0"/>
              <a:t>Plastic flow is usually shown in flocculated particles in a concentrated suspensions.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Bingham bodies are classified according to into their yield values into:</a:t>
            </a:r>
          </a:p>
          <a:p>
            <a:pPr marL="514350" indent="-514350" fontAlgn="auto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Solids: substances exhibit a high yield value,</a:t>
            </a:r>
          </a:p>
          <a:p>
            <a:pPr marL="514350" indent="-514350" fontAlgn="auto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Liquids: substances exhibit a small yield value.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3581400" cy="6248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257107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9800" y="6248400"/>
            <a:ext cx="1676400" cy="396875"/>
          </a:xfrm>
        </p:spPr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18435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3429000" cy="627697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 smtClean="0">
                <a:solidFill>
                  <a:schemeClr val="bg1"/>
                </a:solidFill>
                <a:cs typeface="Arial" pitchFamily="34" charset="0"/>
              </a:rPr>
              <a:t>Rheogram of Plastic system:</a:t>
            </a:r>
          </a:p>
        </p:txBody>
      </p:sp>
      <p:sp>
        <p:nvSpPr>
          <p:cNvPr id="18436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3505200" y="76201"/>
            <a:ext cx="5638800" cy="620077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cs typeface="Arial" pitchFamily="34" charset="0"/>
              </a:rPr>
              <a:t>The curve is linear over most of its length corresponding to that of a </a:t>
            </a:r>
            <a:r>
              <a:rPr lang="en-US" dirty="0" err="1" smtClean="0">
                <a:cs typeface="Arial" pitchFamily="34" charset="0"/>
              </a:rPr>
              <a:t>newtonian</a:t>
            </a:r>
            <a:r>
              <a:rPr lang="en-US" dirty="0" smtClean="0">
                <a:cs typeface="Arial" pitchFamily="34" charset="0"/>
              </a:rPr>
              <a:t> fluid.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cs typeface="Arial" pitchFamily="34" charset="0"/>
              </a:rPr>
              <a:t>However, the curve does not pass through the origin because it does not yield any flow until </a:t>
            </a:r>
            <a:r>
              <a:rPr lang="en-US" dirty="0"/>
              <a:t>yield </a:t>
            </a:r>
            <a:r>
              <a:rPr lang="en-US" dirty="0" smtClean="0"/>
              <a:t>value is reached</a:t>
            </a:r>
            <a:r>
              <a:rPr lang="en-US" dirty="0" smtClean="0">
                <a:cs typeface="Arial" pitchFamily="34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dirty="0">
                <a:cs typeface="Arial" pitchFamily="34" charset="0"/>
              </a:rPr>
              <a:t>Bingham yield value is the intersect of </a:t>
            </a:r>
            <a:r>
              <a:rPr lang="en-US" dirty="0" err="1">
                <a:cs typeface="Arial" pitchFamily="34" charset="0"/>
              </a:rPr>
              <a:t>theline</a:t>
            </a:r>
            <a:r>
              <a:rPr lang="en-US" dirty="0">
                <a:cs typeface="Arial" pitchFamily="34" charset="0"/>
              </a:rPr>
              <a:t> with the shearing stress axis at a particular point (f).</a:t>
            </a:r>
          </a:p>
          <a:p>
            <a:pPr>
              <a:lnSpc>
                <a:spcPct val="90000"/>
              </a:lnSpc>
            </a:pPr>
            <a:endParaRPr lang="en-US" dirty="0" smtClean="0"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676400"/>
            <a:ext cx="3352800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505200" y="228600"/>
            <a:ext cx="5181600" cy="6096000"/>
          </a:xfrm>
        </p:spPr>
        <p:txBody>
          <a:bodyPr>
            <a:normAutofit/>
          </a:bodyPr>
          <a:lstStyle/>
          <a:p>
            <a:r>
              <a:rPr lang="en-US" sz="3000" dirty="0" smtClean="0"/>
              <a:t>Plastic systems resembles Newtonian systems at shear stresses above the yield value </a:t>
            </a:r>
          </a:p>
          <a:p>
            <a:r>
              <a:rPr lang="en-US" sz="3000" dirty="0" smtClean="0"/>
              <a:t>The slope of the rheogram is termed mobility (m), analogous to fluidity in Newtonian systems and its reciprocal is the Plastic viscosity, U:</a:t>
            </a:r>
          </a:p>
          <a:p>
            <a:endParaRPr lang="ar-SA" sz="3000" dirty="0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81600" y="5181600"/>
            <a:ext cx="25908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CC0000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28600"/>
            <a:ext cx="32004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/>
              <a:t>2-Pseudoplastic (Shear Thinning )Flow: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2"/>
          </p:nvPr>
        </p:nvSpPr>
        <p:spPr>
          <a:xfrm>
            <a:off x="3276600" y="1066800"/>
            <a:ext cx="5486400" cy="5257800"/>
          </a:xfrm>
        </p:spPr>
        <p:txBody>
          <a:bodyPr>
            <a:normAutofit fontScale="92500" lnSpcReduction="10000"/>
          </a:bodyPr>
          <a:lstStyle/>
          <a:p>
            <a:pPr fontAlgn="auto">
              <a:spcAft>
                <a:spcPts val="0"/>
              </a:spcAft>
              <a:buClr>
                <a:schemeClr val="tx2"/>
              </a:buClr>
              <a:defRPr/>
            </a:pPr>
            <a:r>
              <a:rPr lang="en-US" dirty="0">
                <a:cs typeface="Arial" pitchFamily="34" charset="0"/>
              </a:rPr>
              <a:t>The viscosity of a pseudo plastic substance decreases with increasing rate of shear (shear-thinning systems).</a:t>
            </a:r>
          </a:p>
          <a:p>
            <a:pPr>
              <a:lnSpc>
                <a:spcPct val="90000"/>
              </a:lnSpc>
            </a:pPr>
            <a:r>
              <a:rPr lang="en-US" dirty="0"/>
              <a:t>pseudo plastic flow is exhibited </a:t>
            </a:r>
            <a:r>
              <a:rPr lang="en-US" dirty="0" err="1"/>
              <a:t>bya</a:t>
            </a:r>
            <a:r>
              <a:rPr lang="en-US" dirty="0"/>
              <a:t> large number of pharmaceutical products</a:t>
            </a:r>
            <a:r>
              <a:rPr lang="en-US" dirty="0" smtClean="0"/>
              <a:t>,</a:t>
            </a:r>
          </a:p>
          <a:p>
            <a:pPr>
              <a:lnSpc>
                <a:spcPct val="90000"/>
              </a:lnSpc>
            </a:pPr>
            <a:r>
              <a:rPr lang="en-US" dirty="0"/>
              <a:t>including all formulations containing aqueous dispersion of natural and/or synthetic gums (polymers)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29718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>
              <a:defRPr/>
            </a:pPr>
            <a:r>
              <a:rPr lang="pt-BR" smtClean="0"/>
              <a:t>Rheology (2024)  Dr. Sara Anas</a:t>
            </a:r>
            <a:endParaRPr lang="en-US" i="1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429000" y="304800"/>
            <a:ext cx="5562600" cy="6019800"/>
          </a:xfrm>
        </p:spPr>
        <p:txBody>
          <a:bodyPr>
            <a:normAutofit fontScale="92500"/>
          </a:bodyPr>
          <a:lstStyle/>
          <a:p>
            <a:pPr>
              <a:buClr>
                <a:schemeClr val="tx2"/>
              </a:buClr>
              <a:defRPr/>
            </a:pPr>
            <a:r>
              <a:rPr lang="en-US" dirty="0" smtClean="0"/>
              <a:t>, e.g. acacia, </a:t>
            </a:r>
            <a:r>
              <a:rPr lang="en-US" dirty="0" err="1" smtClean="0"/>
              <a:t>tragacanth</a:t>
            </a:r>
            <a:r>
              <a:rPr lang="en-US" dirty="0" smtClean="0"/>
              <a:t>, sodium alginate, methyl cellulose, and Na CMC.</a:t>
            </a:r>
          </a:p>
          <a:p>
            <a:pPr>
              <a:buClr>
                <a:schemeClr val="tx2"/>
              </a:buClr>
              <a:defRPr/>
            </a:pPr>
            <a:r>
              <a:rPr lang="en-US" dirty="0">
                <a:cs typeface="Arial" pitchFamily="34" charset="0"/>
              </a:rPr>
              <a:t>In the presence of shear particles arrange them selves in the direction of flow releasing the entrapped fluid&amp; reducing viscosity.</a:t>
            </a:r>
          </a:p>
          <a:p>
            <a:pPr>
              <a:buClr>
                <a:schemeClr val="tx2"/>
              </a:buClr>
              <a:defRPr/>
            </a:pPr>
            <a:r>
              <a:rPr lang="en-US" dirty="0" smtClean="0">
                <a:cs typeface="Arial" pitchFamily="34" charset="0"/>
              </a:rPr>
              <a:t>When </a:t>
            </a:r>
            <a:r>
              <a:rPr lang="en-US" dirty="0">
                <a:cs typeface="Arial" pitchFamily="34" charset="0"/>
              </a:rPr>
              <a:t>“D” is plotted against “t” for pseudo plastic system a down curve </a:t>
            </a:r>
            <a:r>
              <a:rPr lang="en-US" dirty="0" err="1">
                <a:cs typeface="Arial" pitchFamily="34" charset="0"/>
              </a:rPr>
              <a:t>rheogram</a:t>
            </a:r>
            <a:r>
              <a:rPr lang="en-US" dirty="0">
                <a:cs typeface="Arial" pitchFamily="34" charset="0"/>
              </a:rPr>
              <a:t> will obtained.</a:t>
            </a:r>
          </a:p>
          <a:p>
            <a:pPr fontAlgn="auto">
              <a:spcAft>
                <a:spcPts val="0"/>
              </a:spcAft>
              <a:buClr>
                <a:srgbClr val="FFFF00"/>
              </a:buClr>
              <a:buNone/>
              <a:defRPr/>
            </a:pPr>
            <a:endParaRPr lang="en-US" dirty="0"/>
          </a:p>
          <a:p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381000"/>
            <a:ext cx="3124199" cy="6172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46485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b="1" dirty="0"/>
          </a:p>
        </p:txBody>
      </p:sp>
      <p:sp>
        <p:nvSpPr>
          <p:cNvPr id="22531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3657600" cy="6476999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33400" indent="-533400"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3000" b="1" dirty="0" smtClean="0">
                <a:solidFill>
                  <a:schemeClr val="bg1"/>
                </a:solidFill>
                <a:cs typeface="Arial" pitchFamily="34" charset="0"/>
              </a:rPr>
              <a:t>Rheogram of a pseudo plastic system</a:t>
            </a:r>
          </a:p>
          <a:p>
            <a:pPr marL="533400" indent="-533400" algn="ctr">
              <a:buFont typeface="Wingdings" pitchFamily="2" charset="2"/>
              <a:buNone/>
            </a:pPr>
            <a:endParaRPr lang="en-US" dirty="0" smtClean="0">
              <a:solidFill>
                <a:srgbClr val="CC0000"/>
              </a:solidFill>
              <a:cs typeface="Arial" pitchFamily="34" charset="0"/>
            </a:endParaRPr>
          </a:p>
        </p:txBody>
      </p:sp>
      <p:sp>
        <p:nvSpPr>
          <p:cNvPr id="22532" name="Rectangle 6"/>
          <p:cNvSpPr>
            <a:spLocks noGrp="1" noChangeArrowheads="1"/>
          </p:cNvSpPr>
          <p:nvPr>
            <p:ph sz="quarter" idx="2"/>
          </p:nvPr>
        </p:nvSpPr>
        <p:spPr>
          <a:xfrm>
            <a:off x="3886200" y="76200"/>
            <a:ext cx="5105400" cy="6248400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</a:pPr>
            <a:r>
              <a:rPr lang="en-US" dirty="0" smtClean="0">
                <a:cs typeface="Arial" pitchFamily="34" charset="0"/>
              </a:rPr>
              <a:t>The </a:t>
            </a:r>
            <a:r>
              <a:rPr lang="en-US" dirty="0" err="1" smtClean="0">
                <a:cs typeface="Arial" pitchFamily="34" charset="0"/>
              </a:rPr>
              <a:t>rheogram</a:t>
            </a:r>
            <a:r>
              <a:rPr lang="en-US" dirty="0" smtClean="0">
                <a:cs typeface="Arial" pitchFamily="34" charset="0"/>
              </a:rPr>
              <a:t> is down curve begins at the origin.</a:t>
            </a:r>
          </a:p>
          <a:p>
            <a:pPr>
              <a:buClr>
                <a:schemeClr val="tx2"/>
              </a:buClr>
            </a:pPr>
            <a:r>
              <a:rPr lang="en-US" dirty="0" smtClean="0">
                <a:cs typeface="Arial" pitchFamily="34" charset="0"/>
              </a:rPr>
              <a:t>Since no part of the curve is linear, the viscosity of a pseudo plastic material can not be expressed by a single value, </a:t>
            </a:r>
          </a:p>
          <a:p>
            <a:pPr>
              <a:buClr>
                <a:schemeClr val="tx2"/>
              </a:buClr>
            </a:pPr>
            <a:r>
              <a:rPr lang="en-US" dirty="0" smtClean="0">
                <a:cs typeface="Arial" pitchFamily="34" charset="0"/>
              </a:rPr>
              <a:t> the viscosity at any point is known as apparent viscosity,</a:t>
            </a: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52600"/>
            <a:ext cx="3429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chemeClr val="tx2"/>
              </a:buClr>
            </a:pPr>
            <a:r>
              <a:rPr lang="en-US" dirty="0" smtClean="0">
                <a:cs typeface="Arial" pitchFamily="34" charset="0"/>
              </a:rPr>
              <a:t>Pseudo plastic systems are expressed by the equation:</a:t>
            </a:r>
          </a:p>
          <a:p>
            <a:pPr algn="ctr">
              <a:lnSpc>
                <a:spcPct val="90000"/>
              </a:lnSpc>
              <a:buFont typeface="Arial" pitchFamily="34" charset="0"/>
              <a:buNone/>
            </a:pPr>
            <a:endParaRPr lang="en-US" dirty="0" smtClean="0">
              <a:cs typeface="Arial" pitchFamily="34" charset="0"/>
            </a:endParaRPr>
          </a:p>
          <a:p>
            <a:pPr algn="ctr">
              <a:lnSpc>
                <a:spcPct val="90000"/>
              </a:lnSpc>
              <a:buFont typeface="Arial" pitchFamily="34" charset="0"/>
              <a:buNone/>
            </a:pPr>
            <a:endParaRPr lang="en-US" dirty="0" smtClean="0">
              <a:cs typeface="Arial" pitchFamily="34" charset="0"/>
            </a:endParaRPr>
          </a:p>
          <a:p>
            <a:pPr algn="ctr">
              <a:lnSpc>
                <a:spcPct val="90000"/>
              </a:lnSpc>
              <a:buFont typeface="Arial" pitchFamily="34" charset="0"/>
              <a:buNone/>
            </a:pPr>
            <a:endParaRPr lang="en-US" dirty="0" smtClean="0">
              <a:cs typeface="Arial" pitchFamily="34" charset="0"/>
            </a:endParaRPr>
          </a:p>
          <a:p>
            <a:pPr algn="ctr">
              <a:lnSpc>
                <a:spcPct val="90000"/>
              </a:lnSpc>
              <a:buFont typeface="Arial" pitchFamily="34" charset="0"/>
              <a:buNone/>
            </a:pPr>
            <a:r>
              <a:rPr lang="en-US" dirty="0" smtClean="0">
                <a:cs typeface="Arial" pitchFamily="34" charset="0"/>
              </a:rPr>
              <a:t>ὴ: viscosity coefficient</a:t>
            </a:r>
          </a:p>
          <a:p>
            <a:pPr algn="ctr">
              <a:lnSpc>
                <a:spcPct val="90000"/>
              </a:lnSpc>
              <a:buFont typeface="Arial" pitchFamily="34" charset="0"/>
              <a:buNone/>
            </a:pPr>
            <a:r>
              <a:rPr lang="en-US" dirty="0" smtClean="0">
                <a:cs typeface="Arial" pitchFamily="34" charset="0"/>
              </a:rPr>
              <a:t>n: index of pseudo plasticity</a:t>
            </a:r>
          </a:p>
          <a:p>
            <a:pPr algn="ctr">
              <a:lnSpc>
                <a:spcPct val="90000"/>
              </a:lnSpc>
              <a:buFont typeface="Arial" pitchFamily="34" charset="0"/>
              <a:buNone/>
            </a:pPr>
            <a:r>
              <a:rPr lang="en-US" dirty="0" smtClean="0">
                <a:cs typeface="Arial" pitchFamily="34" charset="0"/>
              </a:rPr>
              <a:t>for newtonian flow: n = 1,</a:t>
            </a:r>
          </a:p>
          <a:p>
            <a:pPr algn="ctr">
              <a:lnSpc>
                <a:spcPct val="90000"/>
              </a:lnSpc>
              <a:buFont typeface="Arial" pitchFamily="34" charset="0"/>
              <a:buNone/>
            </a:pPr>
            <a:r>
              <a:rPr lang="en-US" dirty="0" smtClean="0">
                <a:cs typeface="Arial" pitchFamily="34" charset="0"/>
              </a:rPr>
              <a:t>for pseudo plastic flow: n &lt; 1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 smtClean="0">
                <a:cs typeface="Arial" pitchFamily="34" charset="0"/>
              </a:rPr>
              <a:t>The smaller the n the greater the pseudo plasticity 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71800" y="1447800"/>
            <a:ext cx="3962400" cy="10668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5029200" cy="6019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 smtClean="0">
                <a:cs typeface="Arial" pitchFamily="34" charset="0"/>
              </a:rPr>
              <a:t>This equation is rearranged to a straight line equation: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endParaRPr lang="en-US" dirty="0" smtClean="0">
              <a:cs typeface="Arial" pitchFamily="34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None/>
            </a:pPr>
            <a:endParaRPr lang="en-US" dirty="0" smtClean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cs typeface="Arial" pitchFamily="34" charset="0"/>
              </a:rPr>
              <a:t>when log t is plotted against log D,  straight line is obtained,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cs typeface="Arial" pitchFamily="34" charset="0"/>
              </a:rPr>
              <a:t>The slope of the plot = n, &amp; the intercept is log </a:t>
            </a:r>
            <a:r>
              <a:rPr lang="en-US" b="1" dirty="0" smtClean="0"/>
              <a:t>ὴ </a:t>
            </a:r>
            <a:r>
              <a:rPr lang="en-US" dirty="0" smtClean="0">
                <a:cs typeface="Arial" pitchFamily="34" charset="0"/>
              </a:rPr>
              <a:t>.</a:t>
            </a:r>
          </a:p>
        </p:txBody>
      </p:sp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7065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1752600"/>
            <a:ext cx="3810000" cy="1143000"/>
          </a:xfrm>
          <a:prstGeom prst="rect">
            <a:avLst/>
          </a:prstGeom>
          <a:noFill/>
        </p:spPr>
      </p:pic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1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228600"/>
            <a:ext cx="31242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3- Dilatant Flow:</a:t>
            </a:r>
            <a:endParaRPr lang="ar-S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>
              <a:defRPr/>
            </a:pPr>
            <a:r>
              <a:rPr lang="pt-BR" smtClean="0"/>
              <a:t>Rheology (2024)  Dr. Sara Anas</a:t>
            </a:r>
            <a:endParaRPr lang="en-US" i="1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048000" y="1066800"/>
            <a:ext cx="5715000" cy="5105400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en-US" dirty="0">
                <a:cs typeface="Arial" pitchFamily="34" charset="0"/>
              </a:rPr>
              <a:t>Dilatant systems is opposite to pseudo plastic one,</a:t>
            </a:r>
          </a:p>
          <a:p>
            <a:pPr>
              <a:buClr>
                <a:schemeClr val="tx2"/>
              </a:buClr>
            </a:pPr>
            <a:r>
              <a:rPr lang="en-US" dirty="0">
                <a:cs typeface="Arial" pitchFamily="34" charset="0"/>
              </a:rPr>
              <a:t>It exhibit an increase in viscosity with increasing rates of shear, “shear thickening systems”. </a:t>
            </a:r>
          </a:p>
          <a:p>
            <a:pPr>
              <a:buClr>
                <a:schemeClr val="tx2"/>
              </a:buClr>
            </a:pPr>
            <a:r>
              <a:rPr lang="en-US" dirty="0">
                <a:cs typeface="Arial" pitchFamily="34" charset="0"/>
              </a:rPr>
              <a:t>Such systems actually increase in volume when sheared and are hence termed dilatant</a:t>
            </a:r>
            <a:r>
              <a:rPr lang="en-US" dirty="0" smtClean="0">
                <a:cs typeface="Arial" pitchFamily="34" charset="0"/>
              </a:rPr>
              <a:t>.</a:t>
            </a:r>
            <a:endParaRPr lang="en-US" dirty="0"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27432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124200" y="76200"/>
            <a:ext cx="5791200" cy="6248400"/>
          </a:xfrm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dirty="0"/>
              <a:t>At rest, the particles are closely packed with the inter particle voids being at a minimum, </a:t>
            </a:r>
            <a:endParaRPr lang="en-US" dirty="0" smtClean="0"/>
          </a:p>
          <a:p>
            <a:pPr fontAlgn="auto">
              <a:lnSpc>
                <a:spcPct val="80000"/>
              </a:lnSpc>
              <a:spcAft>
                <a:spcPts val="0"/>
              </a:spcAft>
              <a:buClr>
                <a:schemeClr val="tx1"/>
              </a:buClr>
              <a:defRPr/>
            </a:pPr>
            <a:r>
              <a:rPr lang="en-US" dirty="0"/>
              <a:t>low sheer rates </a:t>
            </a:r>
            <a:r>
              <a:rPr lang="en-US" dirty="0" smtClean="0"/>
              <a:t>adequately </a:t>
            </a:r>
            <a:r>
              <a:rPr lang="en-US" dirty="0"/>
              <a:t>lubricate the movement (</a:t>
            </a:r>
            <a:r>
              <a:rPr lang="en-US" dirty="0" smtClean="0"/>
              <a:t>easy movement),</a:t>
            </a:r>
            <a:endParaRPr lang="en-US" dirty="0"/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As the shear stress is increased, the particles form clumps &amp; increase the voids entrapping the surrounding fluid &amp; resist the </a:t>
            </a:r>
            <a:r>
              <a:rPr lang="en-US" dirty="0" smtClean="0"/>
              <a:t>flow (solidified),</a:t>
            </a:r>
            <a:endParaRPr lang="en-US" dirty="0"/>
          </a:p>
          <a:p>
            <a:pPr>
              <a:buClr>
                <a:schemeClr val="tx2"/>
              </a:buClr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339465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352800" y="152400"/>
            <a:ext cx="5562600" cy="6019800"/>
          </a:xfrm>
        </p:spPr>
        <p:txBody>
          <a:bodyPr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This solidification increase as the sheer rate increased until become paste-like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When the stress is removed, a dilatant system returns to its original state of fluidity.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 This behavior is exhibited by dispersions of high solid content e.g. paste &amp; of deflocculated particles. </a:t>
            </a:r>
          </a:p>
          <a:p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"/>
            <a:ext cx="3048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304800"/>
            <a:ext cx="5334000" cy="60960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chemeClr val="tx2"/>
              </a:buClr>
            </a:pPr>
            <a:r>
              <a:rPr lang="en-US" sz="2800" dirty="0" smtClean="0">
                <a:cs typeface="Arial" pitchFamily="34" charset="0"/>
              </a:rPr>
              <a:t>Opposite to pseudo plastic the rheogram is up curve passing through the origin,</a:t>
            </a:r>
          </a:p>
          <a:p>
            <a:pPr>
              <a:lnSpc>
                <a:spcPct val="80000"/>
              </a:lnSpc>
              <a:buClr>
                <a:schemeClr val="tx2"/>
              </a:buClr>
            </a:pPr>
            <a:r>
              <a:rPr lang="en-US" sz="2800" dirty="0" smtClean="0">
                <a:cs typeface="Arial" pitchFamily="34" charset="0"/>
              </a:rPr>
              <a:t>It is expressed by the equation:</a:t>
            </a:r>
          </a:p>
          <a:p>
            <a:pPr>
              <a:lnSpc>
                <a:spcPct val="80000"/>
              </a:lnSpc>
              <a:buClr>
                <a:schemeClr val="tx2"/>
              </a:buClr>
            </a:pPr>
            <a:endParaRPr lang="en-US" sz="2800" dirty="0" smtClean="0">
              <a:cs typeface="Arial" pitchFamily="34" charset="0"/>
            </a:endParaRPr>
          </a:p>
          <a:p>
            <a:pPr>
              <a:lnSpc>
                <a:spcPct val="80000"/>
              </a:lnSpc>
              <a:buClr>
                <a:schemeClr val="tx2"/>
              </a:buClr>
            </a:pPr>
            <a:endParaRPr lang="en-US" sz="2800" dirty="0" smtClean="0">
              <a:cs typeface="Arial" pitchFamily="34" charset="0"/>
            </a:endParaRPr>
          </a:p>
          <a:p>
            <a:pPr>
              <a:lnSpc>
                <a:spcPct val="80000"/>
              </a:lnSpc>
              <a:buClr>
                <a:schemeClr val="tx2"/>
              </a:buClr>
            </a:pPr>
            <a:endParaRPr lang="en-US" sz="2800" dirty="0" smtClean="0">
              <a:cs typeface="Arial" pitchFamily="34" charset="0"/>
            </a:endParaRPr>
          </a:p>
          <a:p>
            <a:pPr>
              <a:lnSpc>
                <a:spcPct val="80000"/>
              </a:lnSpc>
              <a:buClr>
                <a:schemeClr val="tx2"/>
              </a:buClr>
            </a:pPr>
            <a:r>
              <a:rPr lang="en-US" sz="2800" dirty="0" smtClean="0">
                <a:cs typeface="Arial" pitchFamily="34" charset="0"/>
              </a:rPr>
              <a:t>n: is index of diletancy</a:t>
            </a:r>
          </a:p>
          <a:p>
            <a:pPr>
              <a:lnSpc>
                <a:spcPct val="80000"/>
              </a:lnSpc>
              <a:buClr>
                <a:schemeClr val="tx2"/>
              </a:buClr>
            </a:pPr>
            <a:r>
              <a:rPr lang="en-US" sz="2800" dirty="0" smtClean="0">
                <a:cs typeface="Arial" pitchFamily="34" charset="0"/>
              </a:rPr>
              <a:t>for dilatant flow: n &gt; 1,</a:t>
            </a:r>
          </a:p>
          <a:p>
            <a:pPr>
              <a:lnSpc>
                <a:spcPct val="80000"/>
              </a:lnSpc>
              <a:buClr>
                <a:schemeClr val="tx2"/>
              </a:buClr>
            </a:pPr>
            <a:r>
              <a:rPr lang="en-US" sz="2800" dirty="0" smtClean="0">
                <a:cs typeface="Arial" pitchFamily="34" charset="0"/>
              </a:rPr>
              <a:t>The greater the n the greater the diletancy.</a:t>
            </a:r>
            <a:endParaRPr lang="en-US" sz="2800" dirty="0" smtClean="0"/>
          </a:p>
          <a:p>
            <a:pPr>
              <a:lnSpc>
                <a:spcPct val="80000"/>
              </a:lnSpc>
              <a:buClr>
                <a:schemeClr val="tx2"/>
              </a:buClr>
            </a:pPr>
            <a:r>
              <a:rPr lang="en-US" sz="2800" dirty="0" smtClean="0">
                <a:cs typeface="Arial" pitchFamily="34" charset="0"/>
              </a:rPr>
              <a:t>The values of n and </a:t>
            </a:r>
            <a:r>
              <a:rPr lang="en-US" sz="2800" dirty="0" smtClean="0"/>
              <a:t>η are calculated by plotting log D versace log t using the same straight line equation used for</a:t>
            </a:r>
            <a:r>
              <a:rPr lang="en-US" sz="2800" dirty="0" smtClean="0">
                <a:cs typeface="Arial" pitchFamily="34" charset="0"/>
              </a:rPr>
              <a:t> pseudo plastic</a:t>
            </a:r>
            <a:r>
              <a:rPr lang="en-US" sz="2800" dirty="0" smtClean="0"/>
              <a:t> system.</a:t>
            </a:r>
            <a:endParaRPr lang="en-US" sz="2800" dirty="0" smtClean="0">
              <a:cs typeface="Arial" pitchFamily="34" charset="0"/>
            </a:endParaRPr>
          </a:p>
          <a:p>
            <a:pPr algn="ctr">
              <a:lnSpc>
                <a:spcPct val="80000"/>
              </a:lnSpc>
              <a:buClr>
                <a:srgbClr val="FFFF00"/>
              </a:buClr>
              <a:buFont typeface="Wingdings" pitchFamily="2" charset="2"/>
              <a:buNone/>
            </a:pPr>
            <a:endParaRPr lang="en-US" sz="2800" b="1" dirty="0" smtClean="0">
              <a:solidFill>
                <a:srgbClr val="CC0000"/>
              </a:solidFill>
              <a:cs typeface="Arial" pitchFamily="34" charset="0"/>
            </a:endParaRPr>
          </a:p>
        </p:txBody>
      </p:sp>
      <p:sp>
        <p:nvSpPr>
          <p:cNvPr id="24580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5562600" y="152400"/>
            <a:ext cx="3429000" cy="597376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ctr">
              <a:buFont typeface="Wingdings" pitchFamily="2" charset="2"/>
              <a:buNone/>
            </a:pPr>
            <a:r>
              <a:rPr lang="en-US" sz="2400" b="1" dirty="0" smtClean="0">
                <a:solidFill>
                  <a:schemeClr val="bg1"/>
                </a:solidFill>
                <a:cs typeface="Arial" pitchFamily="34" charset="0"/>
              </a:rPr>
              <a:t>Rheogram of a dilatant system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990600"/>
            <a:ext cx="3200400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6800" y="2133600"/>
            <a:ext cx="3352800" cy="6858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 smtClean="0"/>
              <a:t>Thixotropy</a:t>
            </a:r>
            <a:r>
              <a:rPr lang="en-US" dirty="0" smtClean="0"/>
              <a:t> and Rheopexy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066800"/>
            <a:ext cx="5486400" cy="5181600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000" dirty="0" smtClean="0"/>
              <a:t>This  is time dependant type of flow,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3000" dirty="0" err="1" smtClean="0"/>
              <a:t>Thixotropy</a:t>
            </a:r>
            <a:r>
              <a:rPr lang="en-US" sz="3000" dirty="0" smtClean="0"/>
              <a:t> means to change by touch,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3000" dirty="0" smtClean="0"/>
              <a:t>It is usually referred to as isothermal gel-sol-gel transformation,</a:t>
            </a:r>
          </a:p>
          <a:p>
            <a:pPr>
              <a:defRPr/>
            </a:pPr>
            <a:r>
              <a:rPr lang="en-US" sz="3000" dirty="0" err="1" smtClean="0"/>
              <a:t>Thixotropy</a:t>
            </a:r>
            <a:r>
              <a:rPr lang="en-US" sz="3000" dirty="0" smtClean="0"/>
              <a:t> occur usually in solutions of polymers having gel life net structure,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143001"/>
            <a:ext cx="3581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352800" y="152400"/>
            <a:ext cx="5638800" cy="6019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</a:t>
            </a:r>
            <a:r>
              <a:rPr lang="en-US" dirty="0" smtClean="0"/>
              <a:t>thixotropic system  </a:t>
            </a:r>
            <a:r>
              <a:rPr lang="en-US" dirty="0"/>
              <a:t>is subjected to shear the viscosity reduced with time &amp;</a:t>
            </a:r>
          </a:p>
          <a:p>
            <a:r>
              <a:rPr lang="en-US" dirty="0"/>
              <a:t> when the shear stress removed it may not return to its original structure instantly because its gel structure is broken down</a:t>
            </a:r>
            <a:r>
              <a:rPr lang="en-US" dirty="0" smtClean="0"/>
              <a:t>,</a:t>
            </a:r>
          </a:p>
          <a:p>
            <a:r>
              <a:rPr lang="en-US" dirty="0" smtClean="0"/>
              <a:t>i.e. the </a:t>
            </a:r>
            <a:r>
              <a:rPr lang="en-US" dirty="0"/>
              <a:t>particles or macro molecules don’t adapt immediately to shearing,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3048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26051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>
              <a:defRPr/>
            </a:pPr>
            <a:r>
              <a:rPr lang="pt-BR" smtClean="0"/>
              <a:t>Rheology (2024)  Dr. Sara Anas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4648200" cy="6248400"/>
          </a:xfrm>
        </p:spPr>
        <p:txBody>
          <a:bodyPr/>
          <a:lstStyle/>
          <a:p>
            <a:r>
              <a:rPr lang="en-US" dirty="0" smtClean="0"/>
              <a:t>If these materials subjected to increasing shear rate followed immediately by it’s reduction to zero:</a:t>
            </a:r>
          </a:p>
          <a:p>
            <a:r>
              <a:rPr lang="en-US" dirty="0" smtClean="0"/>
              <a:t>A down curve will be displaced with regard to up curve, </a:t>
            </a:r>
          </a:p>
          <a:p>
            <a:r>
              <a:rPr lang="en-US" dirty="0"/>
              <a:t>The resultant diagram will exhibit a </a:t>
            </a:r>
            <a:r>
              <a:rPr lang="en-US" b="1" dirty="0"/>
              <a:t>hysteresis loop</a:t>
            </a:r>
            <a:r>
              <a:rPr lang="en-US" dirty="0"/>
              <a:t>,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ar-SA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800600" y="228600"/>
            <a:ext cx="41148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381000"/>
            <a:ext cx="4419600" cy="5745163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In </a:t>
            </a:r>
            <a:r>
              <a:rPr lang="en-US" b="1" dirty="0" err="1"/>
              <a:t>thixotrobic</a:t>
            </a:r>
            <a:r>
              <a:rPr lang="en-US" b="1" dirty="0"/>
              <a:t> systems </a:t>
            </a:r>
            <a:r>
              <a:rPr lang="en-US" dirty="0" smtClean="0"/>
              <a:t>(plastic &amp; pseudo plastic) the down will be to the left of the upper curve,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 smtClean="0"/>
              <a:t> the reverse is true for dilatant (</a:t>
            </a:r>
            <a:r>
              <a:rPr lang="en-US" b="1" dirty="0" smtClean="0"/>
              <a:t>negative thixortopy or rheopexy</a:t>
            </a:r>
            <a:r>
              <a:rPr lang="en-US" dirty="0" smtClean="0"/>
              <a:t>)</a:t>
            </a:r>
            <a:endParaRPr lang="en-US" u="sng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1000"/>
            <a:ext cx="38862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8683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effectLst/>
                <a:cs typeface="Times New Roman" pitchFamily="18" charset="0"/>
              </a:rPr>
              <a:t>Factors Influence the Viscosity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229600" cy="4830763"/>
          </a:xfrm>
        </p:spPr>
        <p:txBody>
          <a:bodyPr rtlCol="0">
            <a:normAutofit/>
          </a:bodyPr>
          <a:lstStyle/>
          <a:p>
            <a:pPr marL="514350" indent="-514350" fontAlgn="auto">
              <a:lnSpc>
                <a:spcPct val="8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Pressure: </a:t>
            </a:r>
            <a:r>
              <a:rPr lang="en-US" sz="2800" dirty="0" smtClean="0"/>
              <a:t>The viscosity of newtonian and non-newtonian materials increases exponentially with an increase in pressure, however, these changes are extremely small,</a:t>
            </a:r>
          </a:p>
          <a:p>
            <a:pPr marL="514350" indent="-514350" fontAlgn="auto">
              <a:lnSpc>
                <a:spcPct val="8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Temperature: </a:t>
            </a:r>
            <a:r>
              <a:rPr lang="en-US" sz="2800" dirty="0" smtClean="0"/>
              <a:t>An increase in temperature is accompanied by a decrease in viscosity, the temperature dependence increases with an increase in viscosity,</a:t>
            </a:r>
          </a:p>
          <a:p>
            <a:pPr marL="514350" indent="-514350" fontAlgn="auto">
              <a:lnSpc>
                <a:spcPct val="8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Concentration: </a:t>
            </a:r>
            <a:r>
              <a:rPr lang="en-US" sz="2800" dirty="0" smtClean="0"/>
              <a:t>Increasing the concentration of the system is </a:t>
            </a:r>
            <a:r>
              <a:rPr lang="en-US" sz="2800" dirty="0" err="1" smtClean="0"/>
              <a:t>accompined</a:t>
            </a:r>
            <a:r>
              <a:rPr lang="en-US" sz="2800" dirty="0" smtClean="0"/>
              <a:t> by </a:t>
            </a:r>
            <a:r>
              <a:rPr lang="en-US" sz="2800" dirty="0" smtClean="0">
                <a:solidFill>
                  <a:schemeClr val="tx2"/>
                </a:solidFill>
              </a:rPr>
              <a:t>increasing its viscosity,</a:t>
            </a:r>
          </a:p>
          <a:p>
            <a:pPr marL="514350" indent="-514350" fontAlgn="auto">
              <a:lnSpc>
                <a:spcPct val="8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chemeClr val="tx2"/>
                </a:solidFill>
              </a:rPr>
              <a:t> </a:t>
            </a:r>
            <a:r>
              <a:rPr lang="en-US" sz="2800" b="1" dirty="0" smtClean="0">
                <a:solidFill>
                  <a:schemeClr val="tx2"/>
                </a:solidFill>
              </a:rPr>
              <a:t>Shear time: </a:t>
            </a:r>
            <a:r>
              <a:rPr lang="en-US" sz="2800" dirty="0" smtClean="0">
                <a:solidFill>
                  <a:schemeClr val="tx2"/>
                </a:solidFill>
              </a:rPr>
              <a:t> </a:t>
            </a:r>
            <a:r>
              <a:rPr lang="en-US" sz="2800" dirty="0" smtClean="0"/>
              <a:t>just thixotropic and rheopitic materials are affected by sheering time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676400"/>
            <a:ext cx="8534400" cy="2286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ctr" rtl="0" fontAlgn="auto">
              <a:spcAft>
                <a:spcPts val="0"/>
              </a:spcAft>
              <a:defRPr/>
            </a:pPr>
            <a:r>
              <a:rPr lang="en-US" sz="6000" cap="non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Measurement of Viscosity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90800" y="5791200"/>
            <a:ext cx="3200400" cy="365760"/>
          </a:xfrm>
        </p:spPr>
        <p:txBody>
          <a:bodyPr/>
          <a:lstStyle/>
          <a:p>
            <a:pPr algn="ctr" rtl="0">
              <a:defRPr/>
            </a:pPr>
            <a:r>
              <a:rPr lang="pt-BR" b="1" i="1" smtClean="0"/>
              <a:t>Rheology (2024)  Dr. Sara Anas</a:t>
            </a:r>
            <a:endParaRPr lang="en-US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371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rtl="0"/>
            <a:r>
              <a:rPr lang="en-US" sz="3600" b="1" cap="non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</a:rPr>
              <a:t>1. Measurement of newtonian </a:t>
            </a:r>
            <a:r>
              <a:rPr lang="en-US" sz="3600" b="1" cap="none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</a:rPr>
              <a:t>systemss</a:t>
            </a:r>
            <a:endParaRPr lang="ar-SA" sz="3600" b="1" cap="none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Capillary viscometer:</a:t>
            </a:r>
            <a:endParaRPr lang="ar-S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7467600" cy="5105400"/>
          </a:xfrm>
        </p:spPr>
        <p:txBody>
          <a:bodyPr>
            <a:normAutofit/>
          </a:bodyPr>
          <a:lstStyle/>
          <a:p>
            <a:pPr marL="812800" indent="-812800">
              <a:lnSpc>
                <a:spcPct val="80000"/>
              </a:lnSpc>
              <a:buClr>
                <a:schemeClr val="tx2"/>
              </a:buClr>
              <a:defRPr/>
            </a:pPr>
            <a:r>
              <a:rPr lang="en-US" dirty="0" smtClean="0"/>
              <a:t>The viscosity of a </a:t>
            </a:r>
            <a:r>
              <a:rPr lang="en-US" dirty="0" err="1" smtClean="0"/>
              <a:t>newtonin</a:t>
            </a:r>
            <a:r>
              <a:rPr lang="en-US" dirty="0" smtClean="0"/>
              <a:t> liquid may be determined by measuring the time required for the liquid  to pass between two marks as it flows by gravity,</a:t>
            </a:r>
          </a:p>
          <a:p>
            <a:pPr marL="812800" indent="-812800">
              <a:lnSpc>
                <a:spcPct val="80000"/>
              </a:lnSpc>
              <a:buClr>
                <a:schemeClr val="tx2"/>
              </a:buClr>
              <a:defRPr/>
            </a:pPr>
            <a:r>
              <a:rPr lang="en-US" dirty="0" smtClean="0"/>
              <a:t>a vertical capillary tube, known as a </a:t>
            </a:r>
            <a:r>
              <a:rPr lang="en-US" b="1" dirty="0" smtClean="0"/>
              <a:t>Ostwald U-tube viscometer </a:t>
            </a:r>
            <a:r>
              <a:rPr lang="en-US" dirty="0" smtClean="0"/>
              <a:t>is used in this method,</a:t>
            </a:r>
          </a:p>
          <a:p>
            <a:pPr marL="812800" indent="-812800">
              <a:lnSpc>
                <a:spcPct val="80000"/>
              </a:lnSpc>
              <a:buClr>
                <a:schemeClr val="tx2"/>
              </a:buClr>
              <a:defRPr/>
            </a:pPr>
            <a:r>
              <a:rPr lang="en-US" dirty="0" smtClean="0"/>
              <a:t>A range of apparatus of different pores are used, selected according to the viscosity of the tested liquid</a:t>
            </a:r>
            <a:endParaRPr lang="en-US" b="1" dirty="0" smtClean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ar-SA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7772400" y="990600"/>
            <a:ext cx="1219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pic>
        <p:nvPicPr>
          <p:cNvPr id="6" name="Content Placeholder 5" descr="100px-Ubbelohde">
            <a:hlinkClick r:id="rId2"/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04800" y="381000"/>
            <a:ext cx="2743200" cy="5791200"/>
          </a:xfrm>
        </p:spPr>
      </p:pic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200400" y="228600"/>
            <a:ext cx="5562600" cy="6019800"/>
          </a:xfrm>
        </p:spPr>
        <p:txBody>
          <a:bodyPr>
            <a:normAutofit/>
          </a:bodyPr>
          <a:lstStyle/>
          <a:p>
            <a:pPr marL="812800" indent="-812800" fontAlgn="auto">
              <a:lnSpc>
                <a:spcPct val="80000"/>
              </a:lnSpc>
              <a:spcAft>
                <a:spcPts val="0"/>
              </a:spcAft>
              <a:buClr>
                <a:schemeClr val="tx1"/>
              </a:buClr>
              <a:defRPr/>
            </a:pPr>
            <a:r>
              <a:rPr lang="en-US" dirty="0" smtClean="0"/>
              <a:t>The viscosity is calculated by the equation:</a:t>
            </a:r>
          </a:p>
          <a:p>
            <a:pPr marL="812800" indent="-812800" algn="ctr" fontAlgn="auto">
              <a:lnSpc>
                <a:spcPct val="80000"/>
              </a:lnSpc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sz="36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η = </a:t>
            </a:r>
            <a:r>
              <a:rPr lang="en-US" sz="3600" b="1" dirty="0" err="1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ktp</a:t>
            </a:r>
            <a:endParaRPr lang="en-US" sz="3600" b="1" dirty="0" smtClean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12800" indent="-812800" fontAlgn="auto">
              <a:lnSpc>
                <a:spcPct val="80000"/>
              </a:lnSpc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dirty="0" smtClean="0"/>
              <a:t>k: constant of any tube</a:t>
            </a:r>
          </a:p>
          <a:p>
            <a:pPr marL="812800" indent="-812800" fontAlgn="auto">
              <a:lnSpc>
                <a:spcPct val="80000"/>
              </a:lnSpc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dirty="0" smtClean="0"/>
              <a:t>t: time of flow</a:t>
            </a:r>
          </a:p>
          <a:p>
            <a:pPr marL="812800" indent="-812800" fontAlgn="auto">
              <a:lnSpc>
                <a:spcPct val="80000"/>
              </a:lnSpc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dirty="0" smtClean="0"/>
              <a:t>P: pressure deference arcos the end of the tube</a:t>
            </a:r>
          </a:p>
          <a:p>
            <a:pPr marL="812800" indent="-812800" fontAlgn="auto">
              <a:lnSpc>
                <a:spcPct val="80000"/>
              </a:lnSpc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dirty="0" smtClean="0"/>
              <a:t>P: depends on density ‘</a:t>
            </a:r>
            <a:r>
              <a:rPr lang="el-GR" dirty="0" smtClean="0"/>
              <a:t>ρ</a:t>
            </a:r>
            <a:r>
              <a:rPr lang="en-US" dirty="0" smtClean="0"/>
              <a:t>’ &amp; gravitational force ‘g’, As g is constant  p = </a:t>
            </a:r>
            <a:r>
              <a:rPr lang="el-GR" dirty="0" smtClean="0"/>
              <a:t>ρ</a:t>
            </a:r>
            <a:endParaRPr lang="ar-SA" dirty="0" smtClean="0"/>
          </a:p>
          <a:p>
            <a:pPr marL="812800" indent="-812800" algn="ctr" fontAlgn="auto">
              <a:lnSpc>
                <a:spcPct val="80000"/>
              </a:lnSpc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sz="36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η = </a:t>
            </a:r>
            <a:r>
              <a:rPr lang="en-US" sz="3600" b="1" dirty="0" err="1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kt</a:t>
            </a:r>
            <a:r>
              <a:rPr lang="en-US" sz="36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l-GR" sz="36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ρ</a:t>
            </a:r>
          </a:p>
          <a:p>
            <a:pPr marL="514350" indent="-514350">
              <a:buNone/>
            </a:pPr>
            <a:endParaRPr lang="ar-SA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924800" cy="838200"/>
          </a:xfrm>
        </p:spPr>
        <p:txBody>
          <a:bodyPr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/>
              <a:t>2. Falling sphere Viscometer: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143000"/>
            <a:ext cx="5105400" cy="5181600"/>
          </a:xfrm>
        </p:spPr>
        <p:txBody>
          <a:bodyPr rtlCol="0">
            <a:noAutofit/>
          </a:bodyPr>
          <a:lstStyle/>
          <a:p>
            <a:pPr marL="609600" indent="-609600" fontAlgn="auto">
              <a:spcAft>
                <a:spcPts val="0"/>
              </a:spcAft>
              <a:buClr>
                <a:schemeClr val="tx1"/>
              </a:buClr>
              <a:defRPr/>
            </a:pPr>
            <a:r>
              <a:rPr lang="en-US" dirty="0" smtClean="0"/>
              <a:t>It is a glass or steel ball is down in a vertical glass tube containing the test liquid,</a:t>
            </a:r>
          </a:p>
          <a:p>
            <a:pPr marL="609600" indent="-609600" fontAlgn="auto">
              <a:spcAft>
                <a:spcPts val="0"/>
              </a:spcAft>
              <a:buClr>
                <a:schemeClr val="tx1"/>
              </a:buClr>
              <a:defRPr/>
            </a:pPr>
            <a:r>
              <a:rPr lang="en-US" dirty="0" smtClean="0"/>
              <a:t>The time needed for the ball to fall between two marks is accurately measured,</a:t>
            </a:r>
          </a:p>
        </p:txBody>
      </p:sp>
      <p:pic>
        <p:nvPicPr>
          <p:cNvPr id="4099" name="Picture 3" descr="C:\Users\Acer\Desktop\kf40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410200" y="1219200"/>
            <a:ext cx="3448050" cy="50292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609600" indent="-609600" fontAlgn="auto">
              <a:spcAft>
                <a:spcPts val="0"/>
              </a:spcAft>
              <a:buClr>
                <a:schemeClr val="tx1"/>
              </a:buClr>
              <a:defRPr/>
            </a:pPr>
            <a:r>
              <a:rPr lang="en-US" dirty="0" smtClean="0"/>
              <a:t>This viscometer is based on </a:t>
            </a:r>
            <a:r>
              <a:rPr lang="en-US" dirty="0" err="1" smtClean="0"/>
              <a:t>Stoke's</a:t>
            </a:r>
            <a:r>
              <a:rPr lang="en-US" dirty="0" smtClean="0"/>
              <a:t> law, which states that:</a:t>
            </a:r>
          </a:p>
          <a:p>
            <a:pPr marL="609600" indent="-609600" fontAlgn="auto">
              <a:spcAft>
                <a:spcPts val="0"/>
              </a:spcAft>
              <a:buClr>
                <a:schemeClr val="tx1"/>
              </a:buClr>
              <a:buNone/>
              <a:defRPr/>
            </a:pPr>
            <a:endParaRPr lang="en-US" dirty="0" smtClean="0"/>
          </a:p>
          <a:p>
            <a:pPr marL="609600" indent="-609600" fontAlgn="auto">
              <a:spcAft>
                <a:spcPts val="0"/>
              </a:spcAft>
              <a:buClr>
                <a:schemeClr val="tx1"/>
              </a:buClr>
              <a:buNone/>
              <a:defRPr/>
            </a:pPr>
            <a:endParaRPr lang="en-US" dirty="0" smtClean="0"/>
          </a:p>
          <a:p>
            <a:pPr marL="609600" indent="-609600" fontAlgn="auto">
              <a:spcAft>
                <a:spcPts val="0"/>
              </a:spcAft>
              <a:buClr>
                <a:schemeClr val="tx1"/>
              </a:buClr>
              <a:buNone/>
              <a:defRPr/>
            </a:pPr>
            <a:endParaRPr lang="en-US" dirty="0" smtClean="0"/>
          </a:p>
          <a:p>
            <a:pPr marL="609600" indent="-609600" fontAlgn="auto"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dirty="0" smtClean="0"/>
              <a:t>D: the diameter of the ball, </a:t>
            </a:r>
          </a:p>
          <a:p>
            <a:pPr marL="609600" indent="-609600" fontAlgn="auto">
              <a:lnSpc>
                <a:spcPct val="70000"/>
              </a:lnSpc>
              <a:spcAft>
                <a:spcPts val="0"/>
              </a:spcAft>
              <a:buNone/>
              <a:defRPr/>
            </a:pPr>
            <a:r>
              <a:rPr lang="en-US" dirty="0" smtClean="0"/>
              <a:t>ρ</a:t>
            </a:r>
            <a:r>
              <a:rPr lang="en-US" baseline="-25000" dirty="0" smtClean="0"/>
              <a:t>1</a:t>
            </a:r>
            <a:r>
              <a:rPr lang="en-US" dirty="0" smtClean="0"/>
              <a:t> and ρ</a:t>
            </a:r>
            <a:r>
              <a:rPr lang="en-US" baseline="-25000" dirty="0" smtClean="0"/>
              <a:t>2</a:t>
            </a:r>
            <a:r>
              <a:rPr lang="en-US" dirty="0" smtClean="0"/>
              <a:t>: the densities of the ball and the liquid respectively </a:t>
            </a:r>
          </a:p>
          <a:p>
            <a:pPr marL="609600" indent="-609600" fontAlgn="auto">
              <a:lnSpc>
                <a:spcPct val="70000"/>
              </a:lnSpc>
              <a:spcAft>
                <a:spcPts val="0"/>
              </a:spcAft>
              <a:buNone/>
              <a:defRPr/>
            </a:pPr>
            <a:r>
              <a:rPr lang="en-US" dirty="0" smtClean="0"/>
              <a:t>V: the velocity</a:t>
            </a:r>
          </a:p>
          <a:p>
            <a:pPr marL="609600" indent="-609600" fontAlgn="auto">
              <a:lnSpc>
                <a:spcPct val="70000"/>
              </a:lnSpc>
              <a:spcAft>
                <a:spcPts val="0"/>
              </a:spcAft>
              <a:defRPr/>
            </a:pPr>
            <a:r>
              <a:rPr lang="en-US" dirty="0" smtClean="0"/>
              <a:t>This low is used to determine sedimentation rate of the sustention.</a:t>
            </a:r>
          </a:p>
          <a:p>
            <a:pPr marL="609600" indent="-609600" fontAlgn="auto">
              <a:spcAft>
                <a:spcPts val="0"/>
              </a:spcAft>
              <a:buClr>
                <a:schemeClr val="tx1"/>
              </a:buClr>
              <a:buNone/>
              <a:defRPr/>
            </a:pPr>
            <a:endParaRPr lang="en-US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600" y="1752600"/>
            <a:ext cx="4648200" cy="1371600"/>
          </a:xfrm>
          <a:prstGeom prst="rect">
            <a:avLst/>
          </a:prstGeom>
          <a:noFill/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1981200"/>
            <a:ext cx="8229600" cy="18288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rtl="0"/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</a:rPr>
              <a:t>2. </a:t>
            </a:r>
            <a:r>
              <a:rPr lang="en-US" sz="4400" cap="non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Measurement of non newtonian systems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</a:rPr>
              <a:t>: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924800" cy="1143000"/>
          </a:xfrm>
        </p:spPr>
        <p:txBody>
          <a:bodyPr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/>
              <a:t>1. </a:t>
            </a:r>
            <a:r>
              <a:rPr lang="en-US" sz="3200" b="0" dirty="0" smtClean="0"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Rotational viscometer</a:t>
            </a:r>
            <a:r>
              <a:rPr lang="en-US" sz="3200" dirty="0" smtClean="0"/>
              <a:t>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47109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3200400" cy="4678363"/>
          </a:xfrm>
        </p:spPr>
        <p:txBody>
          <a:bodyPr rtlCol="0">
            <a:normAutofit fontScale="92500" lnSpcReduction="20000"/>
          </a:bodyPr>
          <a:lstStyle/>
          <a:p>
            <a:pPr>
              <a:defRPr/>
            </a:pPr>
            <a:r>
              <a:rPr lang="en-US" dirty="0" smtClean="0"/>
              <a:t>All of non newtonian fluid viscometers read viscosity directly</a:t>
            </a:r>
          </a:p>
          <a:p>
            <a:pPr>
              <a:defRPr/>
            </a:pPr>
            <a:r>
              <a:rPr lang="en-US" dirty="0" smtClean="0"/>
              <a:t>The sample is tested by rotation using spindles of different sizes </a:t>
            </a:r>
          </a:p>
        </p:txBody>
      </p:sp>
      <p:pic>
        <p:nvPicPr>
          <p:cNvPr id="34820" name="Picture 7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3810000" y="1600200"/>
            <a:ext cx="4953000" cy="4800600"/>
          </a:xfr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991600" cy="1295400"/>
          </a:xfrm>
        </p:spPr>
        <p:txBody>
          <a:bodyPr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/>
              <a:t>2. Cup and bob viscometer (Concentric cylinder viscometers):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45061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228600" y="1600200"/>
            <a:ext cx="3505200" cy="4525963"/>
          </a:xfrm>
        </p:spPr>
        <p:txBody>
          <a:bodyPr rtlCol="0">
            <a:normAutofit/>
          </a:bodyPr>
          <a:lstStyle/>
          <a:p>
            <a:pPr marL="533400" indent="-533400" fontAlgn="auto">
              <a:spcAft>
                <a:spcPts val="0"/>
              </a:spcAft>
              <a:defRPr/>
            </a:pPr>
            <a:r>
              <a:rPr lang="en-US" dirty="0" smtClean="0"/>
              <a:t>the sample is sheared in the space between the outer wall of a bob and the inner wall of a</a:t>
            </a:r>
            <a:r>
              <a:rPr lang="ar-EG" dirty="0" smtClean="0">
                <a:ea typeface="Majalla UI"/>
                <a:cs typeface="Majalla UI"/>
              </a:rPr>
              <a:t> </a:t>
            </a:r>
            <a:r>
              <a:rPr lang="en-US" dirty="0" smtClean="0"/>
              <a:t>Cup into which the bob fits </a:t>
            </a:r>
            <a:r>
              <a:rPr lang="ar-EG" dirty="0" smtClean="0">
                <a:ea typeface="Majalla UI"/>
                <a:cs typeface="Majalla UI"/>
              </a:rPr>
              <a:t>.</a:t>
            </a:r>
            <a:endParaRPr lang="en-US" dirty="0" smtClean="0"/>
          </a:p>
          <a:p>
            <a:pPr marL="533400" indent="-533400" fontAlgn="auto">
              <a:spcAft>
                <a:spcPts val="0"/>
              </a:spcAft>
              <a:defRPr/>
            </a:pPr>
            <a:endParaRPr lang="en-US" sz="2600" dirty="0" smtClean="0">
              <a:solidFill>
                <a:srgbClr val="1108CA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4" name="Picture 2" descr="C:\Users\Acer\Desktop\New folder\visco_img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114800" y="1641348"/>
            <a:ext cx="4800599" cy="448970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990600"/>
          </a:xfrm>
        </p:spPr>
        <p:txBody>
          <a:bodyPr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/>
              <a:t>3. </a:t>
            </a:r>
            <a:r>
              <a:rPr lang="en-US" sz="3200" b="0" dirty="0" smtClean="0"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Cone and plate viscometer</a:t>
            </a:r>
            <a:r>
              <a:rPr lang="en-US" sz="3200" dirty="0" smtClean="0"/>
              <a:t>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3886200" cy="475456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3200" dirty="0" smtClean="0"/>
              <a:t>The cone is driven by a speed motor and the sample is sheared in the narrow gap between the stationary plate and the rotating cone</a:t>
            </a:r>
          </a:p>
        </p:txBody>
      </p:sp>
      <p:pic>
        <p:nvPicPr>
          <p:cNvPr id="2049" name="Picture 1" descr="C:\Users\Acer\Desktop\New folder\coneplate3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524000"/>
            <a:ext cx="4419600" cy="44958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3400" y="304800"/>
            <a:ext cx="8077200" cy="5715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ar-SA" sz="8800" b="1" cap="none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ush Script MT" pitchFamily="66" charset="0"/>
              </a:rPr>
              <a:t>الحمد لله الذي علم بالقلم </a:t>
            </a:r>
            <a:r>
              <a:rPr lang="en-US" sz="8800" b="1" cap="none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ush Script MT" pitchFamily="66" charset="0"/>
              </a:rPr>
              <a:t>….</a:t>
            </a:r>
            <a:br>
              <a:rPr lang="en-US" sz="8800" b="1" cap="none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ush Script MT" pitchFamily="66" charset="0"/>
              </a:rPr>
            </a:br>
            <a:r>
              <a:rPr lang="ar-SA" sz="8800" b="1" cap="none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ush Script MT" pitchFamily="66" charset="0"/>
              </a:rPr>
              <a:t> </a:t>
            </a:r>
            <a:r>
              <a:rPr lang="ar-SA" sz="8800" b="1" cap="none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ush Script MT" pitchFamily="66" charset="0"/>
              </a:rPr>
              <a:t>علم الانسان ما لم يعلم</a:t>
            </a:r>
            <a:endParaRPr lang="en-US" sz="8800" b="1" cap="none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Brush Script MT" pitchFamily="66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Rheology (2024)  Dr. Sara Anas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06512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rie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2334</TotalTime>
  <Words>2221</Words>
  <Application>Microsoft Office PowerPoint</Application>
  <PresentationFormat>On-screen Show (4:3)</PresentationFormat>
  <Paragraphs>228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Brush Script MT</vt:lpstr>
      <vt:lpstr>Calibri</vt:lpstr>
      <vt:lpstr>Century Schoolbook</vt:lpstr>
      <vt:lpstr>Majalla UI</vt:lpstr>
      <vt:lpstr>Times New Roman</vt:lpstr>
      <vt:lpstr>Wingdings</vt:lpstr>
      <vt:lpstr>Wingdings 2</vt:lpstr>
      <vt:lpstr>Custom Design</vt:lpstr>
      <vt:lpstr>Oriel</vt:lpstr>
      <vt:lpstr>RHEOLOGY (2024)</vt:lpstr>
      <vt:lpstr>INTRODUCTION</vt:lpstr>
      <vt:lpstr>PowerPoint Presentation</vt:lpstr>
      <vt:lpstr>Importance of Rheology in pharmacy:</vt:lpstr>
      <vt:lpstr>Classification of materials according to the types of flow and deformation:</vt:lpstr>
      <vt:lpstr>Newton’s law</vt:lpstr>
      <vt:lpstr>PowerPoint Presentation</vt:lpstr>
      <vt:lpstr>Newton’s low states that:</vt:lpstr>
      <vt:lpstr>1- Newtonian (simple) flow:</vt:lpstr>
      <vt:lpstr>PowerPoint Presentation</vt:lpstr>
      <vt:lpstr>PowerPoint Presentation</vt:lpstr>
      <vt:lpstr>2- Non-Newtonian (complex) flow:</vt:lpstr>
      <vt:lpstr>1. Plastic Flow (Bingham bodies):</vt:lpstr>
      <vt:lpstr>PowerPoint Presentation</vt:lpstr>
      <vt:lpstr>PowerPoint Presentation</vt:lpstr>
      <vt:lpstr>PowerPoint Presentation</vt:lpstr>
      <vt:lpstr>2-Pseudoplastic (Shear Thinning )Flow:</vt:lpstr>
      <vt:lpstr>PowerPoint Presentation</vt:lpstr>
      <vt:lpstr>PowerPoint Presentation</vt:lpstr>
      <vt:lpstr>PowerPoint Presentation</vt:lpstr>
      <vt:lpstr>PowerPoint Presentation</vt:lpstr>
      <vt:lpstr>3- Dilatant Flow:</vt:lpstr>
      <vt:lpstr>PowerPoint Presentation</vt:lpstr>
      <vt:lpstr>PowerPoint Presentation</vt:lpstr>
      <vt:lpstr>PowerPoint Presentation</vt:lpstr>
      <vt:lpstr>Thixotropy and Rheopexy</vt:lpstr>
      <vt:lpstr>PowerPoint Presentation</vt:lpstr>
      <vt:lpstr>PowerPoint Presentation</vt:lpstr>
      <vt:lpstr>PowerPoint Presentation</vt:lpstr>
      <vt:lpstr>Factors Influence the Viscosity</vt:lpstr>
      <vt:lpstr>Measurement of Viscosity </vt:lpstr>
      <vt:lpstr>1. Measurement of newtonian systemss</vt:lpstr>
      <vt:lpstr>1. Capillary viscometer:</vt:lpstr>
      <vt:lpstr>PowerPoint Presentation</vt:lpstr>
      <vt:lpstr>2. Falling sphere Viscometer:</vt:lpstr>
      <vt:lpstr>PowerPoint Presentation</vt:lpstr>
      <vt:lpstr>2. Measurement of non newtonian systems:</vt:lpstr>
      <vt:lpstr>1. Rotational viscometer:</vt:lpstr>
      <vt:lpstr>2. Cup and bob viscometer (Concentric cylinder viscometers):</vt:lpstr>
      <vt:lpstr>3. Cone and plate viscometer:</vt:lpstr>
      <vt:lpstr>الحمد لله الذي علم بالقلم ….  علم الانسان ما لم يعلم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atif</cp:lastModifiedBy>
  <cp:revision>324</cp:revision>
  <cp:lastPrinted>1601-01-01T00:00:00Z</cp:lastPrinted>
  <dcterms:created xsi:type="dcterms:W3CDTF">2013-05-08T05:18:21Z</dcterms:created>
  <dcterms:modified xsi:type="dcterms:W3CDTF">2025-04-21T10:58:35Z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